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6" r:id="rId5"/>
    <p:sldId id="277" r:id="rId6"/>
    <p:sldId id="258" r:id="rId7"/>
    <p:sldId id="290" r:id="rId8"/>
    <p:sldId id="293" r:id="rId9"/>
    <p:sldId id="264" r:id="rId10"/>
    <p:sldId id="291" r:id="rId11"/>
    <p:sldId id="268" r:id="rId12"/>
    <p:sldId id="286" r:id="rId13"/>
    <p:sldId id="292" r:id="rId14"/>
    <p:sldId id="262" r:id="rId15"/>
    <p:sldId id="279" r:id="rId16"/>
    <p:sldId id="294" r:id="rId17"/>
    <p:sldId id="260" r:id="rId18"/>
    <p:sldId id="323" r:id="rId19"/>
    <p:sldId id="324" r:id="rId20"/>
    <p:sldId id="325" r:id="rId21"/>
    <p:sldId id="303" r:id="rId22"/>
    <p:sldId id="326" r:id="rId23"/>
    <p:sldId id="276" r:id="rId24"/>
    <p:sldId id="327" r:id="rId25"/>
    <p:sldId id="328" r:id="rId26"/>
    <p:sldId id="329" r:id="rId27"/>
    <p:sldId id="321" r:id="rId28"/>
    <p:sldId id="322" r:id="rId29"/>
    <p:sldId id="32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3204" autoAdjust="0"/>
  </p:normalViewPr>
  <p:slideViewPr>
    <p:cSldViewPr snapToGrid="0">
      <p:cViewPr varScale="1">
        <p:scale>
          <a:sx n="103" d="100"/>
          <a:sy n="103" d="100"/>
        </p:scale>
        <p:origin x="244" y="60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5622" y="288680"/>
            <a:ext cx="8722832" cy="3590596"/>
          </a:xfrm>
        </p:spPr>
        <p:txBody>
          <a:bodyPr>
            <a:normAutofit/>
          </a:bodyPr>
          <a:lstStyle/>
          <a:p>
            <a:r>
              <a:rPr lang="en-US" dirty="0"/>
              <a:t>Taco Sales Forecasting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97490C-2022-2568-952E-F594EB759728}"/>
              </a:ext>
            </a:extLst>
          </p:cNvPr>
          <p:cNvSpPr txBox="1"/>
          <p:nvPr/>
        </p:nvSpPr>
        <p:spPr>
          <a:xfrm>
            <a:off x="5387546" y="3614351"/>
            <a:ext cx="5313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By: Michael McGivern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/>
          </a:bodyPr>
          <a:lstStyle/>
          <a:p>
            <a:r>
              <a:rPr lang="en-US" dirty="0"/>
              <a:t>To build and deliver a forecasting and analytics solution for taco sales to help a restaurant chain optimize inventory planning, pricing, and promotion strategies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8498" y="-39142"/>
            <a:ext cx="6594768" cy="1600928"/>
          </a:xfrm>
        </p:spPr>
        <p:txBody>
          <a:bodyPr>
            <a:normAutofit/>
          </a:bodyPr>
          <a:lstStyle/>
          <a:p>
            <a:r>
              <a:rPr lang="en-US" dirty="0"/>
              <a:t>Technology stack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25F84D2-5C64-9978-2D6E-D654F5909DFB}"/>
              </a:ext>
            </a:extLst>
          </p:cNvPr>
          <p:cNvSpPr txBox="1"/>
          <p:nvPr/>
        </p:nvSpPr>
        <p:spPr>
          <a:xfrm>
            <a:off x="4670854" y="1166842"/>
            <a:ext cx="7080421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Python (Pandas, NumPy, SciPy) for data cleaning, analysis and statistical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Matplotlib, Seaborn and </a:t>
            </a:r>
            <a:r>
              <a:rPr lang="en-US" sz="2100" dirty="0" err="1">
                <a:solidFill>
                  <a:schemeClr val="bg1"/>
                </a:solidFill>
              </a:rPr>
              <a:t>Plotly</a:t>
            </a:r>
            <a:r>
              <a:rPr lang="en-US" sz="2100" dirty="0">
                <a:solidFill>
                  <a:schemeClr val="bg1"/>
                </a:solidFill>
              </a:rPr>
              <a:t> for  Visualizations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bg1"/>
                </a:solidFill>
              </a:rPr>
              <a:t>Jupyter</a:t>
            </a:r>
            <a:r>
              <a:rPr lang="en-US" sz="2100" dirty="0">
                <a:solidFill>
                  <a:schemeClr val="bg1"/>
                </a:solidFill>
              </a:rPr>
              <a:t> Notebook for Exploratory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bg1"/>
                </a:solidFill>
              </a:rPr>
              <a:t>Sklearn</a:t>
            </a:r>
            <a:r>
              <a:rPr lang="en-US" sz="2100" dirty="0">
                <a:solidFill>
                  <a:schemeClr val="bg1"/>
                </a:solidFill>
              </a:rPr>
              <a:t> for Machine Learning algorithms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bg1"/>
                </a:solidFill>
              </a:rPr>
              <a:t>Tensorflow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Keras</a:t>
            </a:r>
            <a:r>
              <a:rPr lang="en-US" sz="2100" dirty="0">
                <a:solidFill>
                  <a:schemeClr val="bg1"/>
                </a:solidFill>
              </a:rPr>
              <a:t> for Deep Learning Neural 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PowerPoint for Storytelling and reporting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4089" y="-2220254"/>
            <a:ext cx="7254373" cy="3445329"/>
          </a:xfrm>
        </p:spPr>
        <p:txBody>
          <a:bodyPr>
            <a:normAutofit/>
          </a:bodyPr>
          <a:lstStyle/>
          <a:p>
            <a:r>
              <a:rPr lang="en-US" dirty="0"/>
              <a:t>Features of dataset​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9151" y="1225074"/>
            <a:ext cx="2707833" cy="5534071"/>
          </a:xfrm>
        </p:spPr>
        <p:txBody>
          <a:bodyPr>
            <a:normAutofit/>
          </a:bodyPr>
          <a:lstStyle/>
          <a:p>
            <a:r>
              <a:rPr lang="en-US" dirty="0"/>
              <a:t>Order ID</a:t>
            </a:r>
          </a:p>
          <a:p>
            <a:r>
              <a:rPr lang="en-US" dirty="0"/>
              <a:t>Restaurant Name</a:t>
            </a:r>
          </a:p>
          <a:p>
            <a:r>
              <a:rPr lang="en-US" dirty="0"/>
              <a:t>Location</a:t>
            </a:r>
          </a:p>
          <a:p>
            <a:r>
              <a:rPr lang="en-US" dirty="0"/>
              <a:t>Order Time</a:t>
            </a:r>
          </a:p>
          <a:p>
            <a:r>
              <a:rPr lang="en-US" dirty="0"/>
              <a:t>Delivery Time</a:t>
            </a:r>
          </a:p>
          <a:p>
            <a:r>
              <a:rPr lang="en-US" dirty="0"/>
              <a:t>Delivery Duration</a:t>
            </a:r>
          </a:p>
          <a:p>
            <a:r>
              <a:rPr lang="en-US" dirty="0"/>
              <a:t>Taco Size</a:t>
            </a:r>
          </a:p>
          <a:p>
            <a:endParaRPr lang="en-US" dirty="0"/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A9868A-3B72-8351-992F-8F945E64E268}"/>
              </a:ext>
            </a:extLst>
          </p:cNvPr>
          <p:cNvSpPr txBox="1"/>
          <p:nvPr/>
        </p:nvSpPr>
        <p:spPr>
          <a:xfrm>
            <a:off x="8476735" y="1291281"/>
            <a:ext cx="326218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Taco Type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Toppings Count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Distance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Price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Tip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Weekend Order</a:t>
            </a:r>
          </a:p>
        </p:txBody>
      </p: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819B-66F2-3475-A06F-B115AB5D9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Exploratory data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523C47-3E7B-4B3F-4DB6-93A0FAC21D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With Statistical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F3C-53E6-C309-1CAA-31E42D53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886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57" y="161369"/>
            <a:ext cx="8155460" cy="1988706"/>
          </a:xfrm>
        </p:spPr>
        <p:txBody>
          <a:bodyPr/>
          <a:lstStyle/>
          <a:p>
            <a:r>
              <a:rPr lang="en-US" dirty="0"/>
              <a:t>Weekly order volume and Revenue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D6329-D3E4-C9B8-DD8A-67174DF51BB2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D62D2C-A7EB-E081-DB92-C601CC44E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244" y="2671806"/>
            <a:ext cx="5498756" cy="33212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2C96CB-E017-6278-3F88-A7934A62B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71805"/>
            <a:ext cx="6693244" cy="33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5167" y="0"/>
            <a:ext cx="11648303" cy="1588574"/>
          </a:xfrm>
        </p:spPr>
        <p:txBody>
          <a:bodyPr>
            <a:normAutofit/>
          </a:bodyPr>
          <a:lstStyle/>
          <a:p>
            <a:r>
              <a:rPr lang="en-US" dirty="0"/>
              <a:t>Weekly pricing trends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418037A-B5BD-9C5C-4127-DFFD9B0241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973FA7-714B-EF03-8046-11D7EA7F4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755" y="1876161"/>
            <a:ext cx="8970490" cy="447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1257004" cy="1362456"/>
          </a:xfrm>
        </p:spPr>
        <p:txBody>
          <a:bodyPr/>
          <a:lstStyle/>
          <a:p>
            <a:r>
              <a:rPr lang="en-US" dirty="0"/>
              <a:t>Orders and revenue by day of week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76A1C7-8B3D-3472-8FCA-67CDAF732BED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3404DD-7443-9480-C9D8-6BCB8067E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0" y="1647262"/>
            <a:ext cx="11204094" cy="401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7276" y="136525"/>
            <a:ext cx="9173635" cy="1006830"/>
          </a:xfrm>
        </p:spPr>
        <p:txBody>
          <a:bodyPr>
            <a:normAutofit fontScale="90000"/>
          </a:bodyPr>
          <a:lstStyle/>
          <a:p>
            <a:r>
              <a:rPr lang="en-US" dirty="0"/>
              <a:t>Seasonal orders and revenue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2F94C-AAF0-3252-DD33-1E4E116678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AC9A6E-8A80-C2F9-A84A-0352D30666ED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14DC45-8330-99C8-182E-DB06E9306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80" y="1768081"/>
            <a:ext cx="10860731" cy="396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/>
              <a:t>Order density by weekday and hour​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8622A9-DA9E-0C26-0818-FF99EF430C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FF7132-F2C3-5BC6-2194-0F78677BC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96" y="2221675"/>
            <a:ext cx="9566828" cy="444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623" y="136525"/>
            <a:ext cx="10327377" cy="2029967"/>
          </a:xfrm>
        </p:spPr>
        <p:txBody>
          <a:bodyPr/>
          <a:lstStyle/>
          <a:p>
            <a:r>
              <a:rPr lang="en-US" dirty="0"/>
              <a:t>Orders and revenue, weekday vs weekend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6371E-1347-8E51-579D-E08C595291E5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4D3819-A229-83B6-E6DF-9BFF63F88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31" y="2285554"/>
            <a:ext cx="11154236" cy="384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854" y="0"/>
            <a:ext cx="7521146" cy="1494665"/>
          </a:xfrm>
        </p:spPr>
        <p:txBody>
          <a:bodyPr>
            <a:normAutofit/>
          </a:bodyPr>
          <a:lstStyle/>
          <a:p>
            <a:r>
              <a:rPr lang="en-US" dirty="0"/>
              <a:t>Monthly order trends by year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242EB-E850-B09C-D447-4698F3AA7AD5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312AD-ABA1-4B80-F8A6-CFF97BCB6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34" y="1806491"/>
            <a:ext cx="10053061" cy="494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8233-BB38-96C5-47A9-ADD26D6E1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032" y="-741405"/>
            <a:ext cx="10943968" cy="3590596"/>
          </a:xfrm>
        </p:spPr>
        <p:txBody>
          <a:bodyPr/>
          <a:lstStyle/>
          <a:p>
            <a:r>
              <a:rPr lang="en-US" dirty="0"/>
              <a:t>Time series Forecasting</a:t>
            </a:r>
          </a:p>
        </p:txBody>
      </p:sp>
    </p:spTree>
    <p:extLst>
      <p:ext uri="{BB962C8B-B14F-4D97-AF65-F5344CB8AC3E}">
        <p14:creationId xmlns:p14="http://schemas.microsoft.com/office/powerpoint/2010/main" val="3655546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/>
              <a:t>ARIMA, SARIMA and Holt-Winters Prediction and accuracy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1C205-9B27-6042-CD50-A025B40F9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1682"/>
            <a:ext cx="9131643" cy="4766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E564D9-DC70-259B-52A3-38C3AE918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016" y="1366024"/>
            <a:ext cx="3465028" cy="99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AFC3-B9D4-4FBC-58B4-F27F92A28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8" y="136525"/>
            <a:ext cx="9279925" cy="895619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Forest and Gradient Boosting with lag rolling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DB4A6-C1B8-9E84-142A-009D475E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7A016F-BECA-4169-DB17-D5D8EEE959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4CD848-F119-F7DC-FD05-3EF9D8542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54" y="1621706"/>
            <a:ext cx="9414046" cy="463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35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2E85-E98B-E93F-695B-CA2E6BC09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548" y="92922"/>
            <a:ext cx="9401068" cy="2039341"/>
          </a:xfrm>
        </p:spPr>
        <p:txBody>
          <a:bodyPr/>
          <a:lstStyle/>
          <a:p>
            <a:r>
              <a:rPr lang="en-US" dirty="0"/>
              <a:t>LSTM and Prophet neural networks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87B2E-4ED6-F71F-492C-6537AEBA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5A7C36-A0BC-1845-B236-A87356C36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4593"/>
            <a:ext cx="6672649" cy="52076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258A11-DF3C-9C6F-7CE8-185B0B5CF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648" y="1694593"/>
            <a:ext cx="5609967" cy="516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7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644D-9795-1139-60F6-44C3AE8C7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411" y="592413"/>
            <a:ext cx="8926500" cy="2039341"/>
          </a:xfrm>
        </p:spPr>
        <p:txBody>
          <a:bodyPr/>
          <a:lstStyle/>
          <a:p>
            <a:r>
              <a:rPr lang="en-US" dirty="0"/>
              <a:t>Best Model forecast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FF3C3-C536-77B9-043F-874D016F3ADE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3F4CE-3392-282F-A725-6C4113BE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403F0-A2E2-637B-5FE7-4BFCC55A6F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049109-CE53-1F09-9825-67AF774C9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75" y="2095975"/>
            <a:ext cx="11411536" cy="12637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F85153-4FBF-B263-BB6E-4F7A2C8FA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68" y="4135316"/>
            <a:ext cx="8801552" cy="52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314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6368EF9-FDB8-BAA6-B69D-F33986A4E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5049" y="139700"/>
            <a:ext cx="8440351" cy="3590596"/>
          </a:xfrm>
        </p:spPr>
        <p:txBody>
          <a:bodyPr/>
          <a:lstStyle/>
          <a:p>
            <a:r>
              <a:rPr lang="en-US" dirty="0"/>
              <a:t>Price Optimization prediction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3B3EE-6FC3-BECF-13C1-49B7DBBA6C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4800" y="6353175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009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DD1A7-EA7A-40FE-3E74-50F501CA1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411" y="146689"/>
            <a:ext cx="9062424" cy="2039341"/>
          </a:xfrm>
        </p:spPr>
        <p:txBody>
          <a:bodyPr/>
          <a:lstStyle/>
          <a:p>
            <a:r>
              <a:rPr lang="en-US" dirty="0"/>
              <a:t>Random Forest and </a:t>
            </a:r>
            <a:r>
              <a:rPr lang="en-US" dirty="0" err="1"/>
              <a:t>XGBoost</a:t>
            </a:r>
            <a:r>
              <a:rPr lang="en-US" dirty="0"/>
              <a:t> training, testing and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35C92-930A-9EE6-CB57-A1D3A766E7E5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16B08-4FEF-1514-F4F8-F05EA0FD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A926A1-8160-36F2-1751-94C6C9D960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8D44F7-16C9-7562-D311-447B138E1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7854"/>
            <a:ext cx="4386649" cy="795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D2EBC1-5BCD-622F-A3F5-3B617D155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762" y="1925418"/>
            <a:ext cx="4801228" cy="11569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5D46D6-D3DE-517A-55E3-F807F93F5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93018"/>
            <a:ext cx="7626360" cy="449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49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FEA2E7D-7130-E21F-FA34-A3F427209D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PowerBI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71882-8064-2420-39E9-7DE97F7C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2"/>
            <a:ext cx="6343650" cy="1226344"/>
          </a:xfrm>
        </p:spPr>
        <p:txBody>
          <a:bodyPr>
            <a:normAutofit fontScale="90000"/>
          </a:bodyPr>
          <a:lstStyle/>
          <a:p>
            <a:r>
              <a:rPr lang="en-US" dirty="0"/>
              <a:t>Historical and Forecasted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E8550-2C61-3111-A663-FB8C9FB1B483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1F4BF-59B4-BBDE-46B7-318042A35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96E12F-71B9-38BA-E255-0DC28BA43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72" y="1885694"/>
            <a:ext cx="9303228" cy="497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10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7100-DED6-F9A9-3BFA-A419C56EB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087" y="-245197"/>
            <a:ext cx="4723497" cy="1559977"/>
          </a:xfrm>
        </p:spPr>
        <p:txBody>
          <a:bodyPr/>
          <a:lstStyle/>
          <a:p>
            <a:r>
              <a:rPr lang="en-US" dirty="0"/>
              <a:t>Inventory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7E2CF-D125-3308-71C2-7DB1A256533E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69E6D-BA5F-B0C8-22D7-0F2C5203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D9CB27-1894-2F77-6C0B-02E4EAFEB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67419" cy="3619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DBD797-F645-DB00-FD57-E171C9B1D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8" y="3619686"/>
            <a:ext cx="4254719" cy="33402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A2B971-37FC-4251-23FD-A3DFF813E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419" y="0"/>
            <a:ext cx="4235668" cy="3568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33E1D6-7556-DA04-18EC-8FC497984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544" y="3568883"/>
            <a:ext cx="4267419" cy="33529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9EF8DE-13AC-5B87-4E81-2527F6019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838" y="3568883"/>
            <a:ext cx="3860950" cy="349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43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1041-EA78-EB0B-8CCB-34868CD2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324" y="429462"/>
            <a:ext cx="7941276" cy="892712"/>
          </a:xfrm>
        </p:spPr>
        <p:txBody>
          <a:bodyPr/>
          <a:lstStyle/>
          <a:p>
            <a:r>
              <a:rPr lang="en-US" dirty="0"/>
              <a:t>Inventory proportions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AE95E-E0E9-9BEE-ECD8-39193693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169537-7E63-17E7-EF02-D9D72A67B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676" y="2050803"/>
            <a:ext cx="8136924" cy="480719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E1656E5-AD5B-F00C-B104-AB6137E71092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028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7538-AB59-399D-822F-0DC88ABB4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1301284"/>
          </a:xfrm>
        </p:spPr>
        <p:txBody>
          <a:bodyPr/>
          <a:lstStyle/>
          <a:p>
            <a:r>
              <a:rPr lang="en-US" dirty="0"/>
              <a:t>Future scope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C93ED-260C-08AA-68B5-6E9D2245B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0086" y="1878227"/>
            <a:ext cx="8101914" cy="4474620"/>
          </a:xfrm>
        </p:spPr>
        <p:txBody>
          <a:bodyPr>
            <a:normAutofit/>
          </a:bodyPr>
          <a:lstStyle/>
          <a:p>
            <a:r>
              <a:rPr lang="en-US" dirty="0"/>
              <a:t>Researchers should continue to collect data on:</a:t>
            </a:r>
          </a:p>
          <a:p>
            <a:r>
              <a:rPr lang="en-US" dirty="0"/>
              <a:t>	Induvial inventory prices, customer satisfaction, inventory shelf life, labor costs, operational cost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09406-618E-2C5F-B8AA-8804C353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341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7205-981D-65B3-E808-570F42234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1153003"/>
          </a:xfrm>
        </p:spPr>
        <p:txBody>
          <a:bodyPr/>
          <a:lstStyle/>
          <a:p>
            <a:r>
              <a:rPr lang="en-US" dirty="0"/>
              <a:t>Target Audience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DEA7A-9106-BA84-480F-B5B389695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772" y="1989438"/>
            <a:ext cx="6449785" cy="47285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This report is targeted towards:</a:t>
            </a:r>
          </a:p>
          <a:p>
            <a:r>
              <a:rPr lang="en-US" dirty="0"/>
              <a:t>	Company executive</a:t>
            </a:r>
          </a:p>
          <a:p>
            <a:r>
              <a:rPr lang="en-US" dirty="0"/>
              <a:t>	Franchise owners</a:t>
            </a:r>
          </a:p>
          <a:p>
            <a:r>
              <a:rPr lang="en-US" dirty="0"/>
              <a:t>	Managers</a:t>
            </a:r>
          </a:p>
          <a:p>
            <a:r>
              <a:rPr lang="en-US" dirty="0"/>
              <a:t>	Financial and Logistical Professionals</a:t>
            </a:r>
          </a:p>
          <a:p>
            <a:r>
              <a:rPr lang="en-US" dirty="0"/>
              <a:t>	Data Analysts 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8BB6C-DC0A-DF1A-25E9-69600C6F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841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4CB-C1A6-DFFF-E4AC-62DAB920B9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1822962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{142CEDA2-3123-45FA-B474-216EE0C5DAD0}TF55c86556-70ea-476e-aa05-13a38f2d5b0da1381d77_win32-a3c664429073</Template>
  <TotalTime>450</TotalTime>
  <Words>288</Words>
  <Application>Microsoft Office PowerPoint</Application>
  <PresentationFormat>Widescreen</PresentationFormat>
  <Paragraphs>96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Avenir Next LT Pro</vt:lpstr>
      <vt:lpstr>Calibri</vt:lpstr>
      <vt:lpstr>Custom</vt:lpstr>
      <vt:lpstr>Taco Sales Forecasting</vt:lpstr>
      <vt:lpstr>Problem Statement</vt:lpstr>
      <vt:lpstr>Technology stack</vt:lpstr>
      <vt:lpstr>Features of dataset​</vt:lpstr>
      <vt:lpstr>Exploratory data analysis </vt:lpstr>
      <vt:lpstr>Weekly order volume and Revenue</vt:lpstr>
      <vt:lpstr>Weekly pricing trends</vt:lpstr>
      <vt:lpstr>Orders and revenue by day of week</vt:lpstr>
      <vt:lpstr>Seasonal orders and revenue</vt:lpstr>
      <vt:lpstr>Order density by weekday and hour​</vt:lpstr>
      <vt:lpstr>Orders and revenue, weekday vs weekend</vt:lpstr>
      <vt:lpstr>Monthly order trends by year</vt:lpstr>
      <vt:lpstr>Time series Forecasting</vt:lpstr>
      <vt:lpstr>ARIMA, SARIMA and Holt-Winters Prediction and accuracy</vt:lpstr>
      <vt:lpstr>Random Forest and Gradient Boosting with lag rolling</vt:lpstr>
      <vt:lpstr>LSTM and Prophet neural networks</vt:lpstr>
      <vt:lpstr>Best Model forecast</vt:lpstr>
      <vt:lpstr>Price Optimization prediction</vt:lpstr>
      <vt:lpstr>Random Forest and XGBoost training, testing and selection</vt:lpstr>
      <vt:lpstr>PowerBI</vt:lpstr>
      <vt:lpstr>Historical and Forecasted sales</vt:lpstr>
      <vt:lpstr>Inventory Needs</vt:lpstr>
      <vt:lpstr>Inventory proportions </vt:lpstr>
      <vt:lpstr>Future scope </vt:lpstr>
      <vt:lpstr>Target Audience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McGivern, Michael P</dc:creator>
  <cp:lastModifiedBy>McGivern II, Michael P</cp:lastModifiedBy>
  <cp:revision>2</cp:revision>
  <dcterms:created xsi:type="dcterms:W3CDTF">2025-07-19T15:55:53Z</dcterms:created>
  <dcterms:modified xsi:type="dcterms:W3CDTF">2025-08-22T17:10:26Z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
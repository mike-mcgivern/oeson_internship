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2"/>
  </p:notesMasterIdLst>
  <p:handoutMasterIdLst>
    <p:handoutMasterId r:id="rId53"/>
  </p:handoutMasterIdLst>
  <p:sldIdLst>
    <p:sldId id="256" r:id="rId5"/>
    <p:sldId id="277" r:id="rId6"/>
    <p:sldId id="258" r:id="rId7"/>
    <p:sldId id="290" r:id="rId8"/>
    <p:sldId id="293" r:id="rId9"/>
    <p:sldId id="264" r:id="rId10"/>
    <p:sldId id="291" r:id="rId11"/>
    <p:sldId id="268" r:id="rId12"/>
    <p:sldId id="286" r:id="rId13"/>
    <p:sldId id="292" r:id="rId14"/>
    <p:sldId id="262" r:id="rId15"/>
    <p:sldId id="279" r:id="rId16"/>
    <p:sldId id="260" r:id="rId17"/>
    <p:sldId id="323" r:id="rId18"/>
    <p:sldId id="324" r:id="rId19"/>
    <p:sldId id="325" r:id="rId20"/>
    <p:sldId id="326" r:id="rId21"/>
    <p:sldId id="294" r:id="rId22"/>
    <p:sldId id="276"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07" r:id="rId36"/>
    <p:sldId id="308" r:id="rId37"/>
    <p:sldId id="309" r:id="rId38"/>
    <p:sldId id="310" r:id="rId39"/>
    <p:sldId id="311" r:id="rId40"/>
    <p:sldId id="312" r:id="rId41"/>
    <p:sldId id="313" r:id="rId42"/>
    <p:sldId id="314" r:id="rId43"/>
    <p:sldId id="315" r:id="rId44"/>
    <p:sldId id="316" r:id="rId45"/>
    <p:sldId id="317" r:id="rId46"/>
    <p:sldId id="318" r:id="rId47"/>
    <p:sldId id="319" r:id="rId48"/>
    <p:sldId id="321" r:id="rId49"/>
    <p:sldId id="322" r:id="rId50"/>
    <p:sldId id="320"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3204" autoAdjust="0"/>
  </p:normalViewPr>
  <p:slideViewPr>
    <p:cSldViewPr snapToGrid="0">
      <p:cViewPr varScale="1">
        <p:scale>
          <a:sx n="100" d="100"/>
          <a:sy n="100" d="100"/>
        </p:scale>
        <p:origin x="648" y="84"/>
      </p:cViewPr>
      <p:guideLst>
        <p:guide orient="horz" pos="792"/>
        <p:guide pos="3144"/>
        <p:guide orient="horz" pos="960"/>
      </p:guideLst>
    </p:cSldViewPr>
  </p:slideViewPr>
  <p:outlineViewPr>
    <p:cViewPr>
      <p:scale>
        <a:sx n="33" d="100"/>
        <a:sy n="33" d="100"/>
      </p:scale>
      <p:origin x="0" y="-11942"/>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8" d="100"/>
          <a:sy n="58" d="100"/>
        </p:scale>
        <p:origin x="3240" y="5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8ABBF3-49A8-4B3F-9773-22E67695BB12}" type="datetimeFigureOut">
              <a:rPr lang="en-US" smtClean="0"/>
              <a:t>7/19/2025</a:t>
            </a:fld>
            <a:endParaRPr lang="en-US" dirty="0"/>
          </a:p>
        </p:txBody>
      </p:sp>
      <p:sp>
        <p:nvSpPr>
          <p:cNvPr id="4" name="Footer Placeholder 3">
            <a:extLst>
              <a:ext uri="{FF2B5EF4-FFF2-40B4-BE49-F238E27FC236}">
                <a16:creationId xmlns:a16="http://schemas.microsoft.com/office/drawing/2014/main"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EB6193-5AA7-489B-8575-00593FC261DE}" type="slidenum">
              <a:rPr lang="en-US" smtClean="0"/>
              <a:t>‹#›</a:t>
            </a:fld>
            <a:endParaRPr lang="en-US" dirty="0"/>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AAC2B-A50D-4386-849A-6B59FB991B4C}" type="datetimeFigureOut">
              <a:rPr lang="en-US" smtClean="0"/>
              <a:t>7/19/2025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5658-EA1F-4910-80AB-4DA76E167475}" type="slidenum">
              <a:rPr lang="en-US" smtClean="0"/>
              <a:t>‹#›</a:t>
            </a:fld>
            <a:endParaRPr lang="en-US" dirty="0"/>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a:t>
            </a:fld>
            <a:endParaRPr lang="en-US" dirty="0"/>
          </a:p>
        </p:txBody>
      </p:sp>
    </p:spTree>
    <p:extLst>
      <p:ext uri="{BB962C8B-B14F-4D97-AF65-F5344CB8AC3E}">
        <p14:creationId xmlns:p14="http://schemas.microsoft.com/office/powerpoint/2010/main" val="2456864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2</a:t>
            </a:fld>
            <a:endParaRPr lang="en-US" dirty="0"/>
          </a:p>
        </p:txBody>
      </p:sp>
    </p:spTree>
    <p:extLst>
      <p:ext uri="{BB962C8B-B14F-4D97-AF65-F5344CB8AC3E}">
        <p14:creationId xmlns:p14="http://schemas.microsoft.com/office/powerpoint/2010/main" val="3217716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3</a:t>
            </a:fld>
            <a:endParaRPr lang="en-US" dirty="0"/>
          </a:p>
        </p:txBody>
      </p:sp>
    </p:spTree>
    <p:extLst>
      <p:ext uri="{BB962C8B-B14F-4D97-AF65-F5344CB8AC3E}">
        <p14:creationId xmlns:p14="http://schemas.microsoft.com/office/powerpoint/2010/main" val="2456439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4</a:t>
            </a:fld>
            <a:endParaRPr lang="en-US" dirty="0"/>
          </a:p>
        </p:txBody>
      </p:sp>
    </p:spTree>
    <p:extLst>
      <p:ext uri="{BB962C8B-B14F-4D97-AF65-F5344CB8AC3E}">
        <p14:creationId xmlns:p14="http://schemas.microsoft.com/office/powerpoint/2010/main" val="2482613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6</a:t>
            </a:fld>
            <a:endParaRPr lang="en-US" dirty="0"/>
          </a:p>
        </p:txBody>
      </p:sp>
    </p:spTree>
    <p:extLst>
      <p:ext uri="{BB962C8B-B14F-4D97-AF65-F5344CB8AC3E}">
        <p14:creationId xmlns:p14="http://schemas.microsoft.com/office/powerpoint/2010/main" val="2769560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7</a:t>
            </a:fld>
            <a:endParaRPr lang="en-US" dirty="0"/>
          </a:p>
        </p:txBody>
      </p:sp>
    </p:spTree>
    <p:extLst>
      <p:ext uri="{BB962C8B-B14F-4D97-AF65-F5344CB8AC3E}">
        <p14:creationId xmlns:p14="http://schemas.microsoft.com/office/powerpoint/2010/main" val="1101034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8</a:t>
            </a:fld>
            <a:endParaRPr lang="en-US" dirty="0"/>
          </a:p>
        </p:txBody>
      </p:sp>
    </p:spTree>
    <p:extLst>
      <p:ext uri="{BB962C8B-B14F-4D97-AF65-F5344CB8AC3E}">
        <p14:creationId xmlns:p14="http://schemas.microsoft.com/office/powerpoint/2010/main" val="510226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9</a:t>
            </a:fld>
            <a:endParaRPr lang="en-US" dirty="0"/>
          </a:p>
        </p:txBody>
      </p:sp>
    </p:spTree>
    <p:extLst>
      <p:ext uri="{BB962C8B-B14F-4D97-AF65-F5344CB8AC3E}">
        <p14:creationId xmlns:p14="http://schemas.microsoft.com/office/powerpoint/2010/main" val="2909667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10</a:t>
            </a:fld>
            <a:endParaRPr lang="en-US" dirty="0"/>
          </a:p>
        </p:txBody>
      </p:sp>
    </p:spTree>
    <p:extLst>
      <p:ext uri="{BB962C8B-B14F-4D97-AF65-F5344CB8AC3E}">
        <p14:creationId xmlns:p14="http://schemas.microsoft.com/office/powerpoint/2010/main" val="2371032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11</a:t>
            </a:fld>
            <a:endParaRPr lang="en-US" dirty="0"/>
          </a:p>
        </p:txBody>
      </p:sp>
    </p:spTree>
    <p:extLst>
      <p:ext uri="{BB962C8B-B14F-4D97-AF65-F5344CB8AC3E}">
        <p14:creationId xmlns:p14="http://schemas.microsoft.com/office/powerpoint/2010/main" val="13063330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895658-EA1F-4910-80AB-4DA76E167475}" type="slidenum">
              <a:rPr lang="en-US" smtClean="0"/>
              <a:t>12</a:t>
            </a:fld>
            <a:endParaRPr lang="en-US" dirty="0"/>
          </a:p>
        </p:txBody>
      </p:sp>
    </p:spTree>
    <p:extLst>
      <p:ext uri="{BB962C8B-B14F-4D97-AF65-F5344CB8AC3E}">
        <p14:creationId xmlns:p14="http://schemas.microsoft.com/office/powerpoint/2010/main" val="16482914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13</a:t>
            </a:fld>
            <a:endParaRPr lang="en-US" dirty="0"/>
          </a:p>
        </p:txBody>
      </p:sp>
    </p:spTree>
    <p:extLst>
      <p:ext uri="{BB962C8B-B14F-4D97-AF65-F5344CB8AC3E}">
        <p14:creationId xmlns:p14="http://schemas.microsoft.com/office/powerpoint/2010/main" val="311040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19</a:t>
            </a:fld>
            <a:endParaRPr lang="en-US" dirty="0"/>
          </a:p>
        </p:txBody>
      </p:sp>
    </p:spTree>
    <p:extLst>
      <p:ext uri="{BB962C8B-B14F-4D97-AF65-F5344CB8AC3E}">
        <p14:creationId xmlns:p14="http://schemas.microsoft.com/office/powerpoint/2010/main" val="36071253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svg"/><Relationship Id="rId10"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4.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9AF4D7D-42EC-4F30-296A-81B05C4E7D57}"/>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714772" y="677918"/>
            <a:ext cx="6856292" cy="3590596"/>
          </a:xfrm>
        </p:spPr>
        <p:txBody>
          <a:bodyPr anchor="ctr"/>
          <a:lstStyle>
            <a:lvl1pPr algn="l">
              <a:defRPr sz="6000" cap="all" baseline="0">
                <a:solidFill>
                  <a:schemeClr val="tx2"/>
                </a:solidFill>
              </a:defRPr>
            </a:lvl1pPr>
          </a:lstStyle>
          <a:p>
            <a:r>
              <a:rPr lang="en-US" dirty="0"/>
              <a:t>Click to add title</a:t>
            </a:r>
          </a:p>
        </p:txBody>
      </p:sp>
    </p:spTree>
    <p:extLst>
      <p:ext uri="{BB962C8B-B14F-4D97-AF65-F5344CB8AC3E}">
        <p14:creationId xmlns:p14="http://schemas.microsoft.com/office/powerpoint/2010/main" val="670392170"/>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3950" y="429461"/>
            <a:ext cx="6343650" cy="2668463"/>
          </a:xfrm>
        </p:spPr>
        <p:txBody>
          <a:bodyPr anchor="b" anchorCtr="0"/>
          <a:lstStyle>
            <a:lvl1pPr>
              <a:defRPr cap="all" baseline="0">
                <a:solidFill>
                  <a:schemeClr val="accent1"/>
                </a:solidFill>
              </a:defRPr>
            </a:lvl1pPr>
          </a:lstStyle>
          <a:p>
            <a:r>
              <a:rPr lang="en-US" dirty="0"/>
              <a:t>CLICK TO ADD TITLE</a:t>
            </a:r>
          </a:p>
        </p:txBody>
      </p:sp>
      <p:sp>
        <p:nvSpPr>
          <p:cNvPr id="7" name="Content Placeholder 2">
            <a:extLst>
              <a:ext uri="{FF2B5EF4-FFF2-40B4-BE49-F238E27FC236}">
                <a16:creationId xmlns:a16="http://schemas.microsoft.com/office/drawing/2014/main" id="{F183B974-C7F1-5026-EC6E-647371B64BBB}"/>
              </a:ext>
            </a:extLst>
          </p:cNvPr>
          <p:cNvSpPr>
            <a:spLocks noGrp="1"/>
          </p:cNvSpPr>
          <p:nvPr>
            <p:ph sz="half" idx="14" hasCustomPrompt="1"/>
          </p:nvPr>
        </p:nvSpPr>
        <p:spPr>
          <a:xfrm>
            <a:off x="4938712" y="3299953"/>
            <a:ext cx="6338888" cy="2668463"/>
          </a:xfrm>
        </p:spPr>
        <p:txBody>
          <a:bodyPr>
            <a:normAutofit/>
          </a:bodyPr>
          <a:lstStyle>
            <a:lvl1pPr marL="0" indent="0">
              <a:lnSpc>
                <a:spcPct val="150000"/>
              </a:lnSpc>
              <a:spcBef>
                <a:spcPts val="0"/>
              </a:spcBef>
              <a:spcAft>
                <a:spcPts val="0"/>
              </a:spcAft>
              <a:buFont typeface="Arial" panose="020B0604020202020204" pitchFamily="34" charset="0"/>
              <a:buNone/>
              <a:defRPr sz="24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464914EB-20DD-97B4-8FF9-94D739D21CA4}"/>
              </a:ext>
              <a:ext uri="{C183D7F6-B498-43B3-948B-1728B52AA6E4}">
                <adec:decorative xmlns:adec="http://schemas.microsoft.com/office/drawing/2017/decorative" val="1"/>
              </a:ext>
            </a:extLst>
          </p:cNvPr>
          <p:cNvGrpSpPr/>
          <p:nvPr userDrawn="1"/>
        </p:nvGrpSpPr>
        <p:grpSpPr>
          <a:xfrm>
            <a:off x="-9867" y="-7753"/>
            <a:ext cx="4187536" cy="6865753"/>
            <a:chOff x="-9867" y="-7753"/>
            <a:chExt cx="4187536" cy="6865753"/>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860" y="4828032"/>
              <a:ext cx="2029968" cy="2029968"/>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Footer Placeholder 4">
            <a:extLst>
              <a:ext uri="{FF2B5EF4-FFF2-40B4-BE49-F238E27FC236}">
                <a16:creationId xmlns:a16="http://schemas.microsoft.com/office/drawing/2014/main" id="{A8925BB7-B630-981C-964B-37A5DCBEA2E2}"/>
              </a:ext>
            </a:extLst>
          </p:cNvPr>
          <p:cNvSpPr>
            <a:spLocks noGrp="1"/>
          </p:cNvSpPr>
          <p:nvPr>
            <p:ph type="ftr" sz="quarter" idx="11"/>
          </p:nvPr>
        </p:nvSpPr>
        <p:spPr>
          <a:xfrm>
            <a:off x="7306165" y="6355080"/>
            <a:ext cx="2286000" cy="365125"/>
          </a:xfrm>
        </p:spPr>
        <p:txBody>
          <a:bodyPr/>
          <a:lstStyle>
            <a:lvl1pPr>
              <a:defRPr>
                <a:solidFill>
                  <a:schemeClr val="tx1"/>
                </a:solidFill>
              </a:defRPr>
            </a:lvl1pPr>
          </a:lstStyle>
          <a:p>
            <a:r>
              <a:rPr lang="en-US"/>
              <a:t>Presentation title</a:t>
            </a:r>
            <a:endParaRPr lang="en-US" dirty="0"/>
          </a:p>
        </p:txBody>
      </p:sp>
      <p:sp>
        <p:nvSpPr>
          <p:cNvPr id="5" name="Slide Number Placeholder 5">
            <a:extLst>
              <a:ext uri="{FF2B5EF4-FFF2-40B4-BE49-F238E27FC236}">
                <a16:creationId xmlns:a16="http://schemas.microsoft.com/office/drawing/2014/main" id="{4B4D24B0-E841-7B76-D133-06ABBAB6B6FF}"/>
              </a:ext>
            </a:extLst>
          </p:cNvPr>
          <p:cNvSpPr>
            <a:spLocks noGrp="1"/>
          </p:cNvSpPr>
          <p:nvPr>
            <p:ph type="sldNum" sz="quarter" idx="12"/>
          </p:nvPr>
        </p:nvSpPr>
        <p:spPr>
          <a:xfrm>
            <a:off x="10967357"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
        <p:nvSpPr>
          <p:cNvPr id="6" name="Date Placeholder 3">
            <a:extLst>
              <a:ext uri="{FF2B5EF4-FFF2-40B4-BE49-F238E27FC236}">
                <a16:creationId xmlns:a16="http://schemas.microsoft.com/office/drawing/2014/main" id="{C7D011F5-A799-BEAA-9160-5743D58B456A}"/>
              </a:ext>
            </a:extLst>
          </p:cNvPr>
          <p:cNvSpPr>
            <a:spLocks noGrp="1"/>
          </p:cNvSpPr>
          <p:nvPr>
            <p:ph type="dt" sz="half" idx="10"/>
          </p:nvPr>
        </p:nvSpPr>
        <p:spPr>
          <a:xfrm>
            <a:off x="4833694" y="6353175"/>
            <a:ext cx="1097280" cy="365125"/>
          </a:xfrm>
        </p:spPr>
        <p:txBody>
          <a:bodyPr/>
          <a:lstStyle>
            <a:lvl1pPr>
              <a:defRPr>
                <a:solidFill>
                  <a:schemeClr val="tx1"/>
                </a:solidFill>
              </a:defRPr>
            </a:lvl1pPr>
          </a:lstStyle>
          <a:p>
            <a:r>
              <a:rPr lang="en-US"/>
              <a:t>12/11/2023</a:t>
            </a:r>
            <a:endParaRPr lang="en-US" dirty="0"/>
          </a:p>
        </p:txBody>
      </p:sp>
    </p:spTree>
    <p:extLst>
      <p:ext uri="{BB962C8B-B14F-4D97-AF65-F5344CB8AC3E}">
        <p14:creationId xmlns:p14="http://schemas.microsoft.com/office/powerpoint/2010/main" val="19373990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660358"/>
            <a:ext cx="6594768" cy="5537284"/>
          </a:xfrm>
        </p:spPr>
        <p:txBody>
          <a:bodyPr anchor="ctr">
            <a:normAutofit/>
          </a:bodyPr>
          <a:lstStyle>
            <a:lvl1pPr algn="l">
              <a:defRPr sz="4800" cap="all" baseline="0">
                <a:solidFill>
                  <a:schemeClr val="tx2"/>
                </a:solidFill>
              </a:defRPr>
            </a:lvl1pPr>
          </a:lstStyle>
          <a:p>
            <a:r>
              <a:rPr lang="en-US" dirty="0"/>
              <a:t>Click to add title</a:t>
            </a:r>
          </a:p>
        </p:txBody>
      </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rot="10800000">
            <a:off x="1" y="761322"/>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algn="ctr">
              <a:defRPr sz="2000">
                <a:solidFill>
                  <a:schemeClr val="bg1"/>
                </a:solidFill>
              </a:defRPr>
            </a:lvl1pPr>
          </a:lstStyle>
          <a:p>
            <a:r>
              <a:rPr lang="en-US" dirty="0"/>
              <a:t>Click icon to insert picture</a:t>
            </a:r>
          </a:p>
        </p:txBody>
      </p:sp>
      <p:grpSp>
        <p:nvGrpSpPr>
          <p:cNvPr id="4" name="Group 3">
            <a:extLst>
              <a:ext uri="{FF2B5EF4-FFF2-40B4-BE49-F238E27FC236}">
                <a16:creationId xmlns:a16="http://schemas.microsoft.com/office/drawing/2014/main" id="{A1EA6F58-FA46-C921-5758-59234B148D4F}"/>
              </a:ext>
              <a:ext uri="{C183D7F6-B498-43B3-948B-1728B52AA6E4}">
                <adec:decorative xmlns:adec="http://schemas.microsoft.com/office/drawing/2017/decorative" val="1"/>
              </a:ext>
            </a:extLst>
          </p:cNvPr>
          <p:cNvGrpSpPr/>
          <p:nvPr userDrawn="1"/>
        </p:nvGrpSpPr>
        <p:grpSpPr>
          <a:xfrm>
            <a:off x="0" y="0"/>
            <a:ext cx="4069439" cy="4828833"/>
            <a:chOff x="0" y="0"/>
            <a:chExt cx="4069439" cy="4828833"/>
          </a:xfrm>
        </p:grpSpPr>
        <p:sp>
          <p:nvSpPr>
            <p:cNvPr id="7" name="Rectangle 6">
              <a:extLst>
                <a:ext uri="{FF2B5EF4-FFF2-40B4-BE49-F238E27FC236}">
                  <a16:creationId xmlns:a16="http://schemas.microsoft.com/office/drawing/2014/main" id="{06F989FA-6E7A-3A98-AF95-F2384308BD32}"/>
                </a:ext>
              </a:extLst>
            </p:cNvPr>
            <p:cNvSpPr>
              <a:spLocks/>
            </p:cNvSpPr>
            <p:nvPr userDrawn="1"/>
          </p:nvSpPr>
          <p:spPr>
            <a:xfrm rot="10800000" flipH="1">
              <a:off x="2026630" y="77643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rot="10800000">
              <a:off x="0" y="76613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rot="10800000">
              <a:off x="1351" y="0"/>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9471" y="2798865"/>
              <a:ext cx="2029968" cy="2029968"/>
            </a:xfrm>
            <a:prstGeom prst="rect">
              <a:avLst/>
            </a:prstGeom>
          </p:spPr>
        </p:pic>
        <p:sp>
          <p:nvSpPr>
            <p:cNvPr id="41" name="Rectangle 40">
              <a:extLst>
                <a:ext uri="{FF2B5EF4-FFF2-40B4-BE49-F238E27FC236}">
                  <a16:creationId xmlns:a16="http://schemas.microsoft.com/office/drawing/2014/main" id="{26879019-2911-2F60-CC5B-25D1BE752B8D}"/>
                </a:ext>
              </a:extLst>
            </p:cNvPr>
            <p:cNvSpPr/>
            <p:nvPr userDrawn="1"/>
          </p:nvSpPr>
          <p:spPr>
            <a:xfrm rot="10800000">
              <a:off x="2029604" y="0"/>
              <a:ext cx="2029968" cy="7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black and white striped pattern&#10;&#10;Description automatically generated with low confidence">
              <a:extLst>
                <a:ext uri="{FF2B5EF4-FFF2-40B4-BE49-F238E27FC236}">
                  <a16:creationId xmlns:a16="http://schemas.microsoft.com/office/drawing/2014/main" id="{CD1CD1B2-7EBC-96B6-A02D-7972C278746E}"/>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rot="10800000">
              <a:off x="2035948" y="788197"/>
              <a:ext cx="2019299" cy="999451"/>
            </a:xfrm>
            <a:prstGeom prst="rect">
              <a:avLst/>
            </a:prstGeom>
          </p:spPr>
        </p:pic>
      </p:grpSp>
    </p:spTree>
    <p:extLst>
      <p:ext uri="{BB962C8B-B14F-4D97-AF65-F5344CB8AC3E}">
        <p14:creationId xmlns:p14="http://schemas.microsoft.com/office/powerpoint/2010/main" val="1506966382"/>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544285"/>
            <a:ext cx="6594768" cy="3445329"/>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4829789" y="4130045"/>
            <a:ext cx="6594768" cy="1951523"/>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4" name="Group 3">
            <a:extLst>
              <a:ext uri="{FF2B5EF4-FFF2-40B4-BE49-F238E27FC236}">
                <a16:creationId xmlns:a16="http://schemas.microsoft.com/office/drawing/2014/main" id="{C2A24CB0-5164-75CE-ED27-EF876C19C655}"/>
              </a:ext>
              <a:ext uri="{C183D7F6-B498-43B3-948B-1728B52AA6E4}">
                <adec:decorative xmlns:adec="http://schemas.microsoft.com/office/drawing/2017/decorative" val="1"/>
              </a:ext>
            </a:extLst>
          </p:cNvPr>
          <p:cNvGrpSpPr/>
          <p:nvPr userDrawn="1"/>
        </p:nvGrpSpPr>
        <p:grpSpPr>
          <a:xfrm>
            <a:off x="0" y="2029167"/>
            <a:ext cx="4069439" cy="4828833"/>
            <a:chOff x="0" y="2029167"/>
            <a:chExt cx="4069439" cy="4828833"/>
          </a:xfrm>
        </p:grpSpPr>
        <p:sp>
          <p:nvSpPr>
            <p:cNvPr id="7" name="Rectangle 6">
              <a:extLst>
                <a:ext uri="{FF2B5EF4-FFF2-40B4-BE49-F238E27FC236}">
                  <a16:creationId xmlns:a16="http://schemas.microsoft.com/office/drawing/2014/main" id="{06F989FA-6E7A-3A98-AF95-F2384308BD32}"/>
                </a:ext>
              </a:extLst>
            </p:cNvPr>
            <p:cNvSpPr/>
            <p:nvPr userDrawn="1"/>
          </p:nvSpPr>
          <p:spPr>
            <a:xfrm flipH="1">
              <a:off x="9867" y="405160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a:off x="2039471" y="406189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a:off x="2038120" y="6083058"/>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2029167"/>
              <a:ext cx="2029968" cy="2029968"/>
            </a:xfrm>
            <a:prstGeom prst="rect">
              <a:avLst/>
            </a:prstGeom>
          </p:spPr>
        </p:pic>
        <p:grpSp>
          <p:nvGrpSpPr>
            <p:cNvPr id="19" name="Group 18">
              <a:extLst>
                <a:ext uri="{FF2B5EF4-FFF2-40B4-BE49-F238E27FC236}">
                  <a16:creationId xmlns:a16="http://schemas.microsoft.com/office/drawing/2014/main" id="{227BDAED-0D36-04AE-1A0C-E36977943C38}"/>
                </a:ext>
              </a:extLst>
            </p:cNvPr>
            <p:cNvGrpSpPr/>
            <p:nvPr userDrawn="1"/>
          </p:nvGrpSpPr>
          <p:grpSpPr>
            <a:xfrm>
              <a:off x="110109" y="4130046"/>
              <a:ext cx="1920240" cy="1920240"/>
              <a:chOff x="5361924" y="7472790"/>
              <a:chExt cx="1828800" cy="1828800"/>
            </a:xfrm>
          </p:grpSpPr>
          <p:grpSp>
            <p:nvGrpSpPr>
              <p:cNvPr id="20" name="Group 19">
                <a:extLst>
                  <a:ext uri="{FF2B5EF4-FFF2-40B4-BE49-F238E27FC236}">
                    <a16:creationId xmlns:a16="http://schemas.microsoft.com/office/drawing/2014/main" id="{DCF3798F-8E8C-7928-8347-8BC5B07B29F9}"/>
                  </a:ext>
                </a:extLst>
              </p:cNvPr>
              <p:cNvGrpSpPr/>
              <p:nvPr userDrawn="1"/>
            </p:nvGrpSpPr>
            <p:grpSpPr>
              <a:xfrm>
                <a:off x="5361924" y="7472790"/>
                <a:ext cx="1828800" cy="1828800"/>
                <a:chOff x="5361924" y="7472790"/>
                <a:chExt cx="1828800" cy="1828800"/>
              </a:xfrm>
            </p:grpSpPr>
            <p:grpSp>
              <p:nvGrpSpPr>
                <p:cNvPr id="22" name="Group 21">
                  <a:extLst>
                    <a:ext uri="{FF2B5EF4-FFF2-40B4-BE49-F238E27FC236}">
                      <a16:creationId xmlns:a16="http://schemas.microsoft.com/office/drawing/2014/main" id="{A488BF7D-B7D9-249A-4EC2-8A1F6311D1BD}"/>
                    </a:ext>
                  </a:extLst>
                </p:cNvPr>
                <p:cNvGrpSpPr/>
                <p:nvPr userDrawn="1"/>
              </p:nvGrpSpPr>
              <p:grpSpPr>
                <a:xfrm>
                  <a:off x="5361924" y="7472790"/>
                  <a:ext cx="1828800" cy="1828800"/>
                  <a:chOff x="5388428" y="7173291"/>
                  <a:chExt cx="1828800" cy="1828800"/>
                </a:xfrm>
              </p:grpSpPr>
              <p:grpSp>
                <p:nvGrpSpPr>
                  <p:cNvPr id="29" name="Group 28">
                    <a:extLst>
                      <a:ext uri="{FF2B5EF4-FFF2-40B4-BE49-F238E27FC236}">
                        <a16:creationId xmlns:a16="http://schemas.microsoft.com/office/drawing/2014/main" id="{C68EE8A4-53F3-EAAD-F43C-1F73C11BCE4C}"/>
                      </a:ext>
                    </a:extLst>
                  </p:cNvPr>
                  <p:cNvGrpSpPr/>
                  <p:nvPr userDrawn="1"/>
                </p:nvGrpSpPr>
                <p:grpSpPr>
                  <a:xfrm>
                    <a:off x="5388428" y="7173291"/>
                    <a:ext cx="1828800" cy="1828800"/>
                    <a:chOff x="5388428" y="7173291"/>
                    <a:chExt cx="1828800" cy="1828800"/>
                  </a:xfrm>
                </p:grpSpPr>
                <p:grpSp>
                  <p:nvGrpSpPr>
                    <p:cNvPr id="31" name="Group 30">
                      <a:extLst>
                        <a:ext uri="{FF2B5EF4-FFF2-40B4-BE49-F238E27FC236}">
                          <a16:creationId xmlns:a16="http://schemas.microsoft.com/office/drawing/2014/main" id="{806ABFB8-B814-19D4-3D47-A20F5AE8785F}"/>
                        </a:ext>
                      </a:extLst>
                    </p:cNvPr>
                    <p:cNvGrpSpPr/>
                    <p:nvPr userDrawn="1"/>
                  </p:nvGrpSpPr>
                  <p:grpSpPr>
                    <a:xfrm>
                      <a:off x="5388428" y="7173291"/>
                      <a:ext cx="1828800" cy="1828800"/>
                      <a:chOff x="5579044" y="7049770"/>
                      <a:chExt cx="1828800" cy="1828800"/>
                    </a:xfrm>
                  </p:grpSpPr>
                  <p:grpSp>
                    <p:nvGrpSpPr>
                      <p:cNvPr id="33" name="Group 32">
                        <a:extLst>
                          <a:ext uri="{FF2B5EF4-FFF2-40B4-BE49-F238E27FC236}">
                            <a16:creationId xmlns:a16="http://schemas.microsoft.com/office/drawing/2014/main" id="{992340A8-8A61-1791-D56D-37F56A662FEC}"/>
                          </a:ext>
                        </a:extLst>
                      </p:cNvPr>
                      <p:cNvGrpSpPr/>
                      <p:nvPr userDrawn="1"/>
                    </p:nvGrpSpPr>
                    <p:grpSpPr>
                      <a:xfrm>
                        <a:off x="5579044" y="7049770"/>
                        <a:ext cx="1828800" cy="1828800"/>
                        <a:chOff x="5579044" y="7049770"/>
                        <a:chExt cx="1828800" cy="1828800"/>
                      </a:xfrm>
                    </p:grpSpPr>
                    <p:grpSp>
                      <p:nvGrpSpPr>
                        <p:cNvPr id="35" name="Group 34">
                          <a:extLst>
                            <a:ext uri="{FF2B5EF4-FFF2-40B4-BE49-F238E27FC236}">
                              <a16:creationId xmlns:a16="http://schemas.microsoft.com/office/drawing/2014/main" id="{CD482B6F-4CF8-CEB3-7478-EB1A76DCF567}"/>
                            </a:ext>
                          </a:extLst>
                        </p:cNvPr>
                        <p:cNvGrpSpPr/>
                        <p:nvPr userDrawn="1"/>
                      </p:nvGrpSpPr>
                      <p:grpSpPr>
                        <a:xfrm>
                          <a:off x="5579044" y="7049770"/>
                          <a:ext cx="1828800" cy="1828800"/>
                          <a:chOff x="5579044" y="7049770"/>
                          <a:chExt cx="1828800" cy="1828800"/>
                        </a:xfrm>
                      </p:grpSpPr>
                      <p:grpSp>
                        <p:nvGrpSpPr>
                          <p:cNvPr id="37" name="Group 36">
                            <a:extLst>
                              <a:ext uri="{FF2B5EF4-FFF2-40B4-BE49-F238E27FC236}">
                                <a16:creationId xmlns:a16="http://schemas.microsoft.com/office/drawing/2014/main" id="{48DB94FE-59B9-2EAD-D619-84D732CEACD3}"/>
                              </a:ext>
                            </a:extLst>
                          </p:cNvPr>
                          <p:cNvGrpSpPr/>
                          <p:nvPr userDrawn="1"/>
                        </p:nvGrpSpPr>
                        <p:grpSpPr>
                          <a:xfrm>
                            <a:off x="5579044" y="7049770"/>
                            <a:ext cx="1828800" cy="1828800"/>
                            <a:chOff x="5579044" y="7049770"/>
                            <a:chExt cx="1828800" cy="1828800"/>
                          </a:xfrm>
                        </p:grpSpPr>
                        <p:sp>
                          <p:nvSpPr>
                            <p:cNvPr id="39" name="Oval 38">
                              <a:extLst>
                                <a:ext uri="{FF2B5EF4-FFF2-40B4-BE49-F238E27FC236}">
                                  <a16:creationId xmlns:a16="http://schemas.microsoft.com/office/drawing/2014/main" id="{E9EB6EED-2663-2442-C484-EF27395DCEB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0" name="Oval 39">
                              <a:extLst>
                                <a:ext uri="{FF2B5EF4-FFF2-40B4-BE49-F238E27FC236}">
                                  <a16:creationId xmlns:a16="http://schemas.microsoft.com/office/drawing/2014/main" id="{E5978766-DE51-5FF5-41BE-B1007C37165E}"/>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8" name="Oval 37">
                            <a:extLst>
                              <a:ext uri="{FF2B5EF4-FFF2-40B4-BE49-F238E27FC236}">
                                <a16:creationId xmlns:a16="http://schemas.microsoft.com/office/drawing/2014/main" id="{749B68DA-C119-6301-085A-2E7F3F7E3CB1}"/>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6" name="Oval 35">
                          <a:extLst>
                            <a:ext uri="{FF2B5EF4-FFF2-40B4-BE49-F238E27FC236}">
                              <a16:creationId xmlns:a16="http://schemas.microsoft.com/office/drawing/2014/main" id="{D753957E-F4A5-E4CA-B8B3-F6AE73F159F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4" name="Oval 33">
                        <a:extLst>
                          <a:ext uri="{FF2B5EF4-FFF2-40B4-BE49-F238E27FC236}">
                            <a16:creationId xmlns:a16="http://schemas.microsoft.com/office/drawing/2014/main" id="{3C4F46AE-42C2-9E3D-D294-F9297389D110}"/>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2" name="Oval 31">
                      <a:extLst>
                        <a:ext uri="{FF2B5EF4-FFF2-40B4-BE49-F238E27FC236}">
                          <a16:creationId xmlns:a16="http://schemas.microsoft.com/office/drawing/2014/main" id="{42376F25-4466-0F15-CD2F-B821AC9CCE5C}"/>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0" name="Oval 29">
                    <a:extLst>
                      <a:ext uri="{FF2B5EF4-FFF2-40B4-BE49-F238E27FC236}">
                        <a16:creationId xmlns:a16="http://schemas.microsoft.com/office/drawing/2014/main" id="{BBC988D2-4FFC-612A-DD91-A41B6194EF6C}"/>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4" name="Oval 23">
                  <a:extLst>
                    <a:ext uri="{FF2B5EF4-FFF2-40B4-BE49-F238E27FC236}">
                      <a16:creationId xmlns:a16="http://schemas.microsoft.com/office/drawing/2014/main" id="{53690E8A-1D3D-3D5D-932E-D2A2CFE5BDAB}"/>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5" name="Oval 24">
                  <a:extLst>
                    <a:ext uri="{FF2B5EF4-FFF2-40B4-BE49-F238E27FC236}">
                      <a16:creationId xmlns:a16="http://schemas.microsoft.com/office/drawing/2014/main" id="{1AE08D7C-4190-C00C-19F0-BEC1F608B97A}"/>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6" name="Oval 25">
                  <a:extLst>
                    <a:ext uri="{FF2B5EF4-FFF2-40B4-BE49-F238E27FC236}">
                      <a16:creationId xmlns:a16="http://schemas.microsoft.com/office/drawing/2014/main" id="{7B3E9873-3672-0001-60F1-6068B67A6DFE}"/>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7" name="Oval 26">
                  <a:extLst>
                    <a:ext uri="{FF2B5EF4-FFF2-40B4-BE49-F238E27FC236}">
                      <a16:creationId xmlns:a16="http://schemas.microsoft.com/office/drawing/2014/main" id="{4CD85BCE-3B9E-234C-4D1D-EC1A6A57D298}"/>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8" name="Oval 27">
                  <a:extLst>
                    <a:ext uri="{FF2B5EF4-FFF2-40B4-BE49-F238E27FC236}">
                      <a16:creationId xmlns:a16="http://schemas.microsoft.com/office/drawing/2014/main" id="{5CC66A2F-CBBE-220E-5ECB-528B8EE34F83}"/>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1" name="Oval 20">
                <a:extLst>
                  <a:ext uri="{FF2B5EF4-FFF2-40B4-BE49-F238E27FC236}">
                    <a16:creationId xmlns:a16="http://schemas.microsoft.com/office/drawing/2014/main" id="{B7B0A7FC-B497-31A6-1F93-414F96AF4C4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1" name="Rectangle 40">
              <a:extLst>
                <a:ext uri="{FF2B5EF4-FFF2-40B4-BE49-F238E27FC236}">
                  <a16:creationId xmlns:a16="http://schemas.microsoft.com/office/drawing/2014/main" id="{26879019-2911-2F60-CC5B-25D1BE752B8D}"/>
                </a:ext>
              </a:extLst>
            </p:cNvPr>
            <p:cNvSpPr/>
            <p:nvPr userDrawn="1"/>
          </p:nvSpPr>
          <p:spPr>
            <a:xfrm>
              <a:off x="9867" y="6073440"/>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8CCEA94B-F499-5FCA-D063-7FD71F10F95B}"/>
                </a:ext>
              </a:extLst>
            </p:cNvPr>
            <p:cNvSpPr/>
            <p:nvPr userDrawn="1"/>
          </p:nvSpPr>
          <p:spPr>
            <a:xfrm>
              <a:off x="9867" y="405160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a:off x="0" y="-1"/>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17235676"/>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1" y="896112"/>
            <a:ext cx="6589150" cy="1988706"/>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id="{C8EF03D4-C3B7-918C-FF43-0A9C106ACA0F}"/>
              </a:ext>
              <a:ext uri="{C183D7F6-B498-43B3-948B-1728B52AA6E4}">
                <adec:decorative xmlns:adec="http://schemas.microsoft.com/office/drawing/2017/decorative" val="1"/>
              </a:ext>
            </a:extLst>
          </p:cNvPr>
          <p:cNvGrpSpPr/>
          <p:nvPr userDrawn="1"/>
        </p:nvGrpSpPr>
        <p:grpSpPr>
          <a:xfrm>
            <a:off x="8127476" y="-9144"/>
            <a:ext cx="4069095" cy="6867144"/>
            <a:chOff x="8127476" y="-9144"/>
            <a:chExt cx="4069095" cy="6867144"/>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1156" y="4828032"/>
              <a:ext cx="2029968" cy="2029968"/>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761295" y="6355080"/>
            <a:ext cx="1097280" cy="365125"/>
          </a:xfrm>
        </p:spPr>
        <p:txBody>
          <a:bodyPr/>
          <a:lstStyle>
            <a:lvl1pPr>
              <a:defRPr>
                <a:solidFill>
                  <a:schemeClr val="bg1"/>
                </a:solidFill>
              </a:defRPr>
            </a:lvl1pPr>
          </a:lstStyle>
          <a:p>
            <a:r>
              <a:rPr lang="en-US"/>
              <a:t>12/11/2023</a:t>
            </a:r>
            <a:endParaRPr lang="en-US" dirty="0"/>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5499886" y="6355080"/>
            <a:ext cx="2286000" cy="365125"/>
          </a:xfrm>
        </p:spPr>
        <p:txBody>
          <a:bodyPr/>
          <a:lstStyle>
            <a:lvl1pPr>
              <a:defRPr>
                <a:solidFill>
                  <a:schemeClr val="bg1"/>
                </a:solidFill>
              </a:defRPr>
            </a:lvl1pPr>
          </a:lstStyle>
          <a:p>
            <a:r>
              <a:rPr lang="en-US"/>
              <a:t>Presentation title</a:t>
            </a:r>
            <a:endParaRPr lang="en-US" dirty="0"/>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4" name="Content Placeholder 2">
            <a:extLst>
              <a:ext uri="{FF2B5EF4-FFF2-40B4-BE49-F238E27FC236}">
                <a16:creationId xmlns:a16="http://schemas.microsoft.com/office/drawing/2014/main" id="{3BB414F1-8F08-3A3B-45E3-9F44595164A1}"/>
              </a:ext>
            </a:extLst>
          </p:cNvPr>
          <p:cNvSpPr>
            <a:spLocks noGrp="1"/>
          </p:cNvSpPr>
          <p:nvPr>
            <p:ph sz="half" idx="14" hasCustomPrompt="1"/>
          </p:nvPr>
        </p:nvSpPr>
        <p:spPr>
          <a:xfrm>
            <a:off x="762001" y="3058886"/>
            <a:ext cx="6597372" cy="3296194"/>
          </a:xfrm>
        </p:spPr>
        <p:txBody>
          <a:bodyPr>
            <a:normAutofit/>
          </a:bodyPr>
          <a:lstStyle>
            <a:lvl1pPr marL="0" indent="0">
              <a:lnSpc>
                <a:spcPts val="2000"/>
              </a:lnSpc>
              <a:buFont typeface="Arial" panose="020B0604020202020204" pitchFamily="34" charset="0"/>
              <a:buNone/>
              <a:defRPr sz="1800">
                <a:solidFill>
                  <a:schemeClr val="bg1"/>
                </a:solidFill>
              </a:defRPr>
            </a:lvl1pPr>
            <a:lvl2pPr marL="457200">
              <a:lnSpc>
                <a:spcPts val="2000"/>
              </a:lnSpc>
              <a:defRPr sz="1800">
                <a:solidFill>
                  <a:schemeClr val="bg1"/>
                </a:solidFill>
              </a:defRPr>
            </a:lvl2pPr>
            <a:lvl3pPr marL="914400">
              <a:lnSpc>
                <a:spcPts val="2000"/>
              </a:lnSpc>
              <a:defRPr sz="1800">
                <a:solidFill>
                  <a:schemeClr val="bg1"/>
                </a:solidFill>
              </a:defRPr>
            </a:lvl3pPr>
            <a:lvl4pPr marL="1371600">
              <a:lnSpc>
                <a:spcPts val="2000"/>
              </a:lnSpc>
              <a:defRPr sz="1800">
                <a:solidFill>
                  <a:schemeClr val="bg1"/>
                </a:solidFill>
              </a:defRPr>
            </a:lvl4pPr>
            <a:lvl5pPr marL="1828800">
              <a:lnSpc>
                <a:spcPts val="2000"/>
              </a:lnSpc>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069602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F09F422-89F7-BDA7-7801-F364BA5D95A5}"/>
              </a:ext>
              <a:ext uri="{C183D7F6-B498-43B3-948B-1728B52AA6E4}">
                <adec:decorative xmlns:adec="http://schemas.microsoft.com/office/drawing/2017/decorative" val="1"/>
              </a:ext>
            </a:extLst>
          </p:cNvPr>
          <p:cNvGrpSpPr/>
          <p:nvPr userDrawn="1"/>
        </p:nvGrpSpPr>
        <p:grpSpPr>
          <a:xfrm>
            <a:off x="-3045" y="-4303"/>
            <a:ext cx="7252590" cy="6862680"/>
            <a:chOff x="-3045" y="-4303"/>
            <a:chExt cx="7252590" cy="686268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1146"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3045" y="-4303"/>
              <a:ext cx="2029968" cy="2029968"/>
            </a:xfrm>
            <a:prstGeom prst="rect">
              <a:avLst/>
            </a:prstGeom>
          </p:spPr>
        </p:pic>
        <p:sp>
          <p:nvSpPr>
            <p:cNvPr id="39" name="Rectangle 38">
              <a:extLst>
                <a:ext uri="{FF2B5EF4-FFF2-40B4-BE49-F238E27FC236}">
                  <a16:creationId xmlns:a16="http://schemas.microsoft.com/office/drawing/2014/main" id="{EA65556A-38A5-4BA5-9A40-33F02F960B1E}"/>
                </a:ext>
              </a:extLst>
            </p:cNvPr>
            <p:cNvSpPr/>
            <p:nvPr userDrawn="1"/>
          </p:nvSpPr>
          <p:spPr>
            <a:xfrm>
              <a:off x="3757"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21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4071442" y="4058828"/>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38053" y="2029625"/>
              <a:ext cx="2029878" cy="202376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034034" y="4055808"/>
              <a:ext cx="2029968" cy="2029968"/>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2028568"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rot="5400000">
              <a:off x="2043950" y="4059923"/>
              <a:ext cx="2029968" cy="2029968"/>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10" cstate="screen">
              <a:extLst>
                <a:ext uri="{28A0092B-C50C-407E-A947-70E740481C1C}">
                  <a14:useLocalDpi xmlns:a14="http://schemas.microsoft.com/office/drawing/2010/main" val="0"/>
                </a:ext>
              </a:extLst>
            </a:blip>
            <a:stretch>
              <a:fillRect/>
            </a:stretch>
          </p:blipFill>
          <p:spPr>
            <a:xfrm>
              <a:off x="1406" y="3062893"/>
              <a:ext cx="2019299" cy="999451"/>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4433" y="4836676"/>
              <a:ext cx="1965960" cy="196596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506891"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2028658"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BCF3BD55-FF25-4CA9-8016-81AEB8AA43E8}"/>
                </a:ext>
              </a:extLst>
            </p:cNvPr>
            <p:cNvSpPr/>
            <p:nvPr userDrawn="1"/>
          </p:nvSpPr>
          <p:spPr>
            <a:xfrm>
              <a:off x="3838078"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Connector 76">
              <a:extLst>
                <a:ext uri="{FF2B5EF4-FFF2-40B4-BE49-F238E27FC236}">
                  <a16:creationId xmlns:a16="http://schemas.microsoft.com/office/drawing/2014/main" id="{DE09EA6C-7AC2-47BE-95B8-4D3412867BA5}"/>
                </a:ext>
              </a:extLst>
            </p:cNvPr>
            <p:cNvCxnSpPr>
              <a:cxnSpLocks/>
            </p:cNvCxnSpPr>
            <p:nvPr userDrawn="1"/>
          </p:nvCxnSpPr>
          <p:spPr>
            <a:xfrm flipV="1">
              <a:off x="0" y="1990665"/>
              <a:ext cx="4023360"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74771" y="576943"/>
            <a:ext cx="6449786" cy="2785508"/>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EB00591F-8CE8-B626-C81A-6C960B2BAECA}"/>
              </a:ext>
            </a:extLst>
          </p:cNvPr>
          <p:cNvSpPr>
            <a:spLocks noGrp="1"/>
          </p:cNvSpPr>
          <p:nvPr>
            <p:ph type="subTitle" idx="1" hasCustomPrompt="1"/>
          </p:nvPr>
        </p:nvSpPr>
        <p:spPr>
          <a:xfrm>
            <a:off x="4974772" y="3373686"/>
            <a:ext cx="6449785" cy="1029586"/>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7519821" y="6353175"/>
            <a:ext cx="1097280" cy="365125"/>
          </a:xfrm>
        </p:spPr>
        <p:txBody>
          <a:bodyPr/>
          <a:lstStyle>
            <a:lvl1pPr>
              <a:defRPr>
                <a:solidFill>
                  <a:schemeClr val="bg1"/>
                </a:solidFill>
              </a:defRPr>
            </a:lvl1pPr>
          </a:lstStyle>
          <a:p>
            <a:r>
              <a:rPr lang="en-US"/>
              <a:t>12/11/2023</a:t>
            </a:r>
            <a:endParaRPr lang="en-US" dirty="0"/>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8727198" y="6350000"/>
            <a:ext cx="2286000" cy="365125"/>
          </a:xfrm>
        </p:spPr>
        <p:txBody>
          <a:bodyPr/>
          <a:lstStyle>
            <a:lvl1pPr>
              <a:defRPr>
                <a:solidFill>
                  <a:schemeClr val="bg1"/>
                </a:solidFill>
              </a:defRPr>
            </a:lvl1pPr>
          </a:lstStyle>
          <a:p>
            <a:r>
              <a:rPr lang="en-US"/>
              <a:t>Presentation title</a:t>
            </a:r>
            <a:endParaRPr lang="en-US" dirty="0"/>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11123295" y="6352847"/>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5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771736" y="896112"/>
            <a:ext cx="9389288" cy="1362456"/>
          </a:xfrm>
        </p:spPr>
        <p:txBody>
          <a:bodyPr anchor="t" anchorCtr="0"/>
          <a:lstStyle>
            <a:lvl1pPr>
              <a:defRPr cap="all" baseline="0">
                <a:solidFill>
                  <a:schemeClr val="accent1"/>
                </a:solidFill>
              </a:defRPr>
            </a:lvl1pPr>
          </a:lstStyle>
          <a:p>
            <a:r>
              <a:rPr lang="en-US" dirty="0"/>
              <a:t>CLICK TO ADD TITLE</a:t>
            </a:r>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771735"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6" name="Content Placeholder 2">
            <a:extLst>
              <a:ext uri="{FF2B5EF4-FFF2-40B4-BE49-F238E27FC236}">
                <a16:creationId xmlns:a16="http://schemas.microsoft.com/office/drawing/2014/main" id="{B135D7B7-20E9-ADCF-4417-B443AF3112FC}"/>
              </a:ext>
            </a:extLst>
          </p:cNvPr>
          <p:cNvSpPr>
            <a:spLocks noGrp="1"/>
          </p:cNvSpPr>
          <p:nvPr>
            <p:ph sz="half" idx="14" hasCustomPrompt="1"/>
          </p:nvPr>
        </p:nvSpPr>
        <p:spPr>
          <a:xfrm>
            <a:off x="771734"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D4468C5-0B68-8408-80C5-F8681CA98918}"/>
              </a:ext>
            </a:extLst>
          </p:cNvPr>
          <p:cNvSpPr>
            <a:spLocks noGrp="1"/>
          </p:cNvSpPr>
          <p:nvPr>
            <p:ph sz="half" idx="15" hasCustomPrompt="1"/>
          </p:nvPr>
        </p:nvSpPr>
        <p:spPr>
          <a:xfrm>
            <a:off x="5645989"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881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6">
            <a:lumMod val="60000"/>
            <a:lumOff val="40000"/>
          </a:schemeClr>
        </a:solidFill>
        <a:effectLst/>
      </p:bgPr>
    </p:bg>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403102"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025089"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407892"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413443"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021285"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1859807"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7411"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1793659"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1035546"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1">
            <a:extLst>
              <a:ext uri="{FF2B5EF4-FFF2-40B4-BE49-F238E27FC236}">
                <a16:creationId xmlns:a16="http://schemas.microsoft.com/office/drawing/2014/main" id="{C8142DAF-BE54-C239-5685-89D55E027E4E}"/>
              </a:ext>
            </a:extLst>
          </p:cNvPr>
          <p:cNvSpPr>
            <a:spLocks noGrp="1"/>
          </p:cNvSpPr>
          <p:nvPr>
            <p:ph type="title" hasCustomPrompt="1"/>
          </p:nvPr>
        </p:nvSpPr>
        <p:spPr>
          <a:xfrm>
            <a:off x="3520440" y="896111"/>
            <a:ext cx="7889768" cy="2039341"/>
          </a:xfrm>
        </p:spPr>
        <p:txBody>
          <a:bodyPr anchor="t" anchorCtr="0"/>
          <a:lstStyle>
            <a:lvl1pPr>
              <a:defRPr cap="all" baseline="0">
                <a:solidFill>
                  <a:schemeClr val="accent1"/>
                </a:solidFill>
              </a:defRPr>
            </a:lvl1pPr>
          </a:lstStyle>
          <a:p>
            <a:r>
              <a:rPr lang="en-US" dirty="0"/>
              <a:t>CLICK TO ADD TITLE</a:t>
            </a:r>
          </a:p>
        </p:txBody>
      </p:sp>
      <p:sp>
        <p:nvSpPr>
          <p:cNvPr id="10" name="Content Placeholder 2">
            <a:extLst>
              <a:ext uri="{FF2B5EF4-FFF2-40B4-BE49-F238E27FC236}">
                <a16:creationId xmlns:a16="http://schemas.microsoft.com/office/drawing/2014/main" id="{5A2EBD71-EB16-773C-A6CB-C6E1259AE70B}"/>
              </a:ext>
            </a:extLst>
          </p:cNvPr>
          <p:cNvSpPr>
            <a:spLocks noGrp="1"/>
          </p:cNvSpPr>
          <p:nvPr>
            <p:ph sz="half" idx="14" hasCustomPrompt="1"/>
          </p:nvPr>
        </p:nvSpPr>
        <p:spPr>
          <a:xfrm>
            <a:off x="3520440" y="3259056"/>
            <a:ext cx="2994660" cy="3006531"/>
          </a:xfrm>
        </p:spPr>
        <p:txBody>
          <a:bodyPr>
            <a:normAutofit/>
          </a:bodyPr>
          <a:lstStyle>
            <a:lvl1pPr marL="285750" indent="-285750">
              <a:lnSpc>
                <a:spcPts val="2000"/>
              </a:lnSpc>
              <a:buFont typeface="Arial" panose="020B0604020202020204" pitchFamily="34" charset="0"/>
              <a:buChar char="•"/>
              <a:defRPr sz="1800"/>
            </a:lvl1pPr>
            <a:lvl2pPr>
              <a:lnSpc>
                <a:spcPts val="2000"/>
              </a:lnSpc>
              <a:defRPr sz="1800"/>
            </a:lvl2pPr>
            <a:lvl3pPr>
              <a:lnSpc>
                <a:spcPts val="2000"/>
              </a:lnSpc>
              <a:defRPr sz="1800"/>
            </a:lvl3pPr>
            <a:lvl4pPr>
              <a:lnSpc>
                <a:spcPts val="2000"/>
              </a:lnSpc>
              <a:defRPr sz="1800"/>
            </a:lvl4pPr>
            <a:lvl5pPr>
              <a:lnSpc>
                <a:spcPts val="2000"/>
              </a:lnSpc>
              <a:defRPr sz="1800"/>
            </a:lvl5pPr>
          </a:lstStyle>
          <a:p>
            <a:pPr lvl="0"/>
            <a:r>
              <a:rPr lang="en-US" dirty="0"/>
              <a:t>Click to add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56944BE1-9937-7EA2-AA56-336B8D5CAADA}"/>
              </a:ext>
            </a:extLst>
          </p:cNvPr>
          <p:cNvSpPr>
            <a:spLocks noGrp="1"/>
          </p:cNvSpPr>
          <p:nvPr>
            <p:ph sz="half" idx="1" hasCustomPrompt="1"/>
          </p:nvPr>
        </p:nvSpPr>
        <p:spPr>
          <a:xfrm>
            <a:off x="6826432" y="3253740"/>
            <a:ext cx="4580088" cy="3006531"/>
          </a:xfrm>
        </p:spPr>
        <p:txBody>
          <a:bodyPr>
            <a:normAutofit/>
          </a:bodyPr>
          <a:lstStyle>
            <a:lvl1pPr marL="0" indent="0">
              <a:lnSpc>
                <a:spcPts val="2000"/>
              </a:lnSpc>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523723"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6642161"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0949320"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807877" y="898524"/>
            <a:ext cx="7606895" cy="2029967"/>
          </a:xfrm>
        </p:spPr>
        <p:txBody>
          <a:bodyPr anchor="t" anchorCtr="0"/>
          <a:lstStyle>
            <a:lvl1pPr>
              <a:defRPr cap="all" baseline="0">
                <a:solidFill>
                  <a:schemeClr val="tx2"/>
                </a:solidFill>
              </a:defRPr>
            </a:lvl1pPr>
          </a:lstStyle>
          <a:p>
            <a:r>
              <a:rPr lang="en-US" dirty="0"/>
              <a:t>CLICK TO ADD TITLE</a:t>
            </a:r>
          </a:p>
        </p:txBody>
      </p:sp>
      <p:sp>
        <p:nvSpPr>
          <p:cNvPr id="27" name="Picture Placeholder 26">
            <a:extLst>
              <a:ext uri="{FF2B5EF4-FFF2-40B4-BE49-F238E27FC236}">
                <a16:creationId xmlns:a16="http://schemas.microsoft.com/office/drawing/2014/main" id="{01CF25F4-1889-5FE4-9BE0-413C509639DC}"/>
              </a:ext>
            </a:extLst>
          </p:cNvPr>
          <p:cNvSpPr>
            <a:spLocks noGrp="1"/>
          </p:cNvSpPr>
          <p:nvPr>
            <p:ph type="pic" sz="quarter" idx="15" hasCustomPrompt="1"/>
          </p:nvPr>
        </p:nvSpPr>
        <p:spPr>
          <a:xfrm>
            <a:off x="1011337" y="9212"/>
            <a:ext cx="2029967" cy="4850544"/>
          </a:xfrm>
          <a:custGeom>
            <a:avLst/>
            <a:gdLst>
              <a:gd name="connsiteX0" fmla="*/ 0 w 2029967"/>
              <a:gd name="connsiteY0" fmla="*/ 0 h 4850544"/>
              <a:gd name="connsiteX1" fmla="*/ 2029967 w 2029967"/>
              <a:gd name="connsiteY1" fmla="*/ 0 h 4850544"/>
              <a:gd name="connsiteX2" fmla="*/ 2029967 w 2029967"/>
              <a:gd name="connsiteY2" fmla="*/ 4850544 h 4850544"/>
              <a:gd name="connsiteX3" fmla="*/ 2025599 w 2029967"/>
              <a:gd name="connsiteY3" fmla="*/ 4850544 h 4850544"/>
              <a:gd name="connsiteX4" fmla="*/ 2 w 2029967"/>
              <a:gd name="connsiteY4" fmla="*/ 2824947 h 4850544"/>
              <a:gd name="connsiteX5" fmla="*/ 2 w 2029967"/>
              <a:gd name="connsiteY5" fmla="*/ 4850544 h 4850544"/>
              <a:gd name="connsiteX6" fmla="*/ 0 w 2029967"/>
              <a:gd name="connsiteY6" fmla="*/ 4850544 h 485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9967" h="4850544">
                <a:moveTo>
                  <a:pt x="0" y="0"/>
                </a:moveTo>
                <a:lnTo>
                  <a:pt x="2029967" y="0"/>
                </a:lnTo>
                <a:lnTo>
                  <a:pt x="2029967" y="4850544"/>
                </a:lnTo>
                <a:lnTo>
                  <a:pt x="2025599" y="4850544"/>
                </a:lnTo>
                <a:lnTo>
                  <a:pt x="2" y="2824947"/>
                </a:lnTo>
                <a:lnTo>
                  <a:pt x="2" y="4850544"/>
                </a:lnTo>
                <a:lnTo>
                  <a:pt x="0" y="4850544"/>
                </a:lnTo>
                <a:close/>
              </a:path>
            </a:pathLst>
          </a:custGeom>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4" name="Rectangle 33">
            <a:extLst>
              <a:ext uri="{FF2B5EF4-FFF2-40B4-BE49-F238E27FC236}">
                <a16:creationId xmlns:a16="http://schemas.microsoft.com/office/drawing/2014/main" id="{9CC28908-2548-441C-BE9D-8728E1FC84C0}"/>
              </a:ext>
              <a:ext uri="{C183D7F6-B498-43B3-948B-1728B52AA6E4}">
                <adec:decorative xmlns:adec="http://schemas.microsoft.com/office/drawing/2017/decorative" val="1"/>
              </a:ext>
            </a:extLst>
          </p:cNvPr>
          <p:cNvSpPr/>
          <p:nvPr userDrawn="1"/>
        </p:nvSpPr>
        <p:spPr>
          <a:xfrm>
            <a:off x="1011339" y="4863266"/>
            <a:ext cx="2029968" cy="200489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a:extLst>
              <a:ext uri="{FF2B5EF4-FFF2-40B4-BE49-F238E27FC236}">
                <a16:creationId xmlns:a16="http://schemas.microsoft.com/office/drawing/2014/main" id="{731DC170-FB16-45F8-B62C-DCAB2B9AC31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11338" y="5865203"/>
            <a:ext cx="2019299" cy="999451"/>
          </a:xfrm>
          <a:prstGeom prst="rect">
            <a:avLst/>
          </a:prstGeom>
        </p:spPr>
      </p:pic>
      <p:sp>
        <p:nvSpPr>
          <p:cNvPr id="5" name="Content Placeholder 2">
            <a:extLst>
              <a:ext uri="{FF2B5EF4-FFF2-40B4-BE49-F238E27FC236}">
                <a16:creationId xmlns:a16="http://schemas.microsoft.com/office/drawing/2014/main" id="{ADE2E4A5-BFB0-8F89-C606-A1581EB9FC6E}"/>
              </a:ext>
            </a:extLst>
          </p:cNvPr>
          <p:cNvSpPr>
            <a:spLocks noGrp="1"/>
          </p:cNvSpPr>
          <p:nvPr>
            <p:ph sz="half" idx="16" hasCustomPrompt="1"/>
          </p:nvPr>
        </p:nvSpPr>
        <p:spPr>
          <a:xfrm>
            <a:off x="3803953" y="3259138"/>
            <a:ext cx="7615274" cy="2978150"/>
          </a:xfrm>
        </p:spPr>
        <p:txBody>
          <a:bodyPr>
            <a:normAutofit/>
          </a:bodyPr>
          <a:lstStyle>
            <a:lvl1pPr marL="285750" indent="-285750">
              <a:lnSpc>
                <a:spcPts val="2000"/>
              </a:lnSpc>
              <a:buFont typeface="Arial" panose="020B0604020202020204" pitchFamily="34" charset="0"/>
              <a:buChar char="•"/>
              <a:defRPr sz="1800">
                <a:solidFill>
                  <a:schemeClr val="tx2"/>
                </a:solidFill>
              </a:defRPr>
            </a:lvl1pPr>
            <a:lvl2pPr marL="685800">
              <a:lnSpc>
                <a:spcPts val="2000"/>
              </a:lnSpc>
              <a:defRPr sz="1800">
                <a:solidFill>
                  <a:schemeClr val="tx2"/>
                </a:solidFill>
              </a:defRPr>
            </a:lvl2pPr>
            <a:lvl3pPr marL="1143000">
              <a:lnSpc>
                <a:spcPts val="2000"/>
              </a:lnSpc>
              <a:defRPr sz="1800">
                <a:solidFill>
                  <a:schemeClr val="tx2"/>
                </a:solidFill>
              </a:defRPr>
            </a:lvl3pPr>
            <a:lvl4pPr marL="1600200">
              <a:lnSpc>
                <a:spcPts val="2000"/>
              </a:lnSpc>
              <a:defRPr sz="1800">
                <a:solidFill>
                  <a:schemeClr val="tx2"/>
                </a:solidFill>
              </a:defRPr>
            </a:lvl4pPr>
            <a:lvl5pPr marL="2057400">
              <a:lnSpc>
                <a:spcPts val="2000"/>
              </a:lnSpc>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3803953" y="6353175"/>
            <a:ext cx="1097280" cy="365125"/>
          </a:xfrm>
        </p:spPr>
        <p:txBody>
          <a:bodyPr/>
          <a:lstStyle>
            <a:lvl1pPr>
              <a:defRPr>
                <a:solidFill>
                  <a:schemeClr val="bg1"/>
                </a:solidFill>
              </a:defRPr>
            </a:lvl1pPr>
          </a:lstStyle>
          <a:p>
            <a:r>
              <a:rPr lang="en-US"/>
              <a:t>12/11/2023</a:t>
            </a:r>
            <a:endParaRPr lang="en-US" dirty="0"/>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6788630" y="6350000"/>
            <a:ext cx="2286000" cy="365125"/>
          </a:xfrm>
        </p:spPr>
        <p:txBody>
          <a:bodyPr/>
          <a:lstStyle>
            <a:lvl1pPr>
              <a:defRPr>
                <a:solidFill>
                  <a:schemeClr val="bg1"/>
                </a:solidFill>
              </a:defRPr>
            </a:lvl1pPr>
          </a:lstStyle>
          <a:p>
            <a:r>
              <a:rPr lang="en-US"/>
              <a:t>Presentation title</a:t>
            </a:r>
            <a:endParaRPr lang="en-US" dirty="0"/>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0962027"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grpSp>
        <p:nvGrpSpPr>
          <p:cNvPr id="9" name="Group 8">
            <a:extLst>
              <a:ext uri="{FF2B5EF4-FFF2-40B4-BE49-F238E27FC236}">
                <a16:creationId xmlns:a16="http://schemas.microsoft.com/office/drawing/2014/main" id="{378F81CD-65D4-6CA1-E2C2-34DF58B566B2}"/>
              </a:ext>
              <a:ext uri="{C183D7F6-B498-43B3-948B-1728B52AA6E4}">
                <adec:decorative xmlns:adec="http://schemas.microsoft.com/office/drawing/2017/decorative" val="1"/>
              </a:ext>
            </a:extLst>
          </p:cNvPr>
          <p:cNvGrpSpPr/>
          <p:nvPr userDrawn="1"/>
        </p:nvGrpSpPr>
        <p:grpSpPr>
          <a:xfrm>
            <a:off x="-1000" y="0"/>
            <a:ext cx="1015984" cy="6858000"/>
            <a:chOff x="-1000" y="0"/>
            <a:chExt cx="1015984" cy="6858000"/>
          </a:xfrm>
        </p:grpSpPr>
        <p:sp>
          <p:nvSpPr>
            <p:cNvPr id="10" name="Rectangle 9">
              <a:extLst>
                <a:ext uri="{FF2B5EF4-FFF2-40B4-BE49-F238E27FC236}">
                  <a16:creationId xmlns:a16="http://schemas.microsoft.com/office/drawing/2014/main" id="{E419657A-6BE9-88F7-BE4C-6BF3C13F7E91}"/>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BB2BB8E-26BE-8FBF-1C62-4F42858193C1}"/>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864BEFA-BF82-8BAF-1977-518DCAB0F3EC}"/>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14C6E7FC-E03B-5EE2-7126-8CC1FBCB9DC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14" name="Rectangle 13">
              <a:extLst>
                <a:ext uri="{FF2B5EF4-FFF2-40B4-BE49-F238E27FC236}">
                  <a16:creationId xmlns:a16="http://schemas.microsoft.com/office/drawing/2014/main" id="{659957EF-0F68-275E-1FFC-87388D717462}"/>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ECECEEA3-55C1-1632-4F14-7E57A802667B}"/>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6" name="Graphic 15">
              <a:extLst>
                <a:ext uri="{FF2B5EF4-FFF2-40B4-BE49-F238E27FC236}">
                  <a16:creationId xmlns:a16="http://schemas.microsoft.com/office/drawing/2014/main" id="{A6290E86-B21F-0C88-099F-07B046CA1D4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380762"/>
              <a:ext cx="1828800" cy="914400"/>
            </a:xfrm>
            <a:prstGeom prst="rect">
              <a:avLst/>
            </a:prstGeom>
          </p:spPr>
        </p:pic>
      </p:grpSp>
      <p:sp>
        <p:nvSpPr>
          <p:cNvPr id="26" name="Rectangle 23">
            <a:extLst>
              <a:ext uri="{FF2B5EF4-FFF2-40B4-BE49-F238E27FC236}">
                <a16:creationId xmlns:a16="http://schemas.microsoft.com/office/drawing/2014/main" id="{E489F066-AA0F-D3C7-739B-15808100E736}"/>
              </a:ext>
              <a:ext uri="{C183D7F6-B498-43B3-948B-1728B52AA6E4}">
                <adec:decorative xmlns:adec="http://schemas.microsoft.com/office/drawing/2017/decorative" val="1"/>
              </a:ext>
            </a:extLst>
          </p:cNvPr>
          <p:cNvSpPr/>
          <p:nvPr userDrawn="1"/>
        </p:nvSpPr>
        <p:spPr>
          <a:xfrm>
            <a:off x="1011339" y="283415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555004"/>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0" y="896112"/>
            <a:ext cx="10668000" cy="1325563"/>
          </a:xfrm>
        </p:spPr>
        <p:txBody>
          <a:bodyPr anchor="t" anchorCtr="0"/>
          <a:lstStyle>
            <a:lvl1pPr>
              <a:defRPr cap="all" baseline="0">
                <a:solidFill>
                  <a:schemeClr val="accent1"/>
                </a:solidFill>
              </a:defRPr>
            </a:lvl1pPr>
          </a:lstStyle>
          <a:p>
            <a:r>
              <a:rPr lang="en-US" dirty="0"/>
              <a:t>CLICK TO ADD TITLE</a:t>
            </a:r>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D70FC509-0D49-9500-59C9-DAE0A699FB0C}"/>
              </a:ext>
            </a:extLst>
          </p:cNvPr>
          <p:cNvSpPr>
            <a:spLocks noGrp="1"/>
          </p:cNvSpPr>
          <p:nvPr>
            <p:ph type="body" sz="quarter" idx="13" hasCustomPrompt="1"/>
          </p:nvPr>
        </p:nvSpPr>
        <p:spPr>
          <a:xfrm>
            <a:off x="762000" y="2417197"/>
            <a:ext cx="4278313" cy="3737541"/>
          </a:xfrm>
        </p:spPr>
        <p:txBody>
          <a:bodyPr vert="horz" lIns="91440" tIns="45720" rIns="91440" bIns="45720" rtlCol="0">
            <a:normAutofit/>
          </a:bodyPr>
          <a:lstStyle>
            <a:lvl1pPr>
              <a:spcBef>
                <a:spcPts val="0"/>
              </a:spcBef>
              <a:spcAft>
                <a:spcPts val="1200"/>
              </a:spcAft>
              <a:defRPr lang="en-US" sz="1800" smtClean="0"/>
            </a:lvl1pPr>
            <a:lvl2pPr>
              <a:spcBef>
                <a:spcPts val="0"/>
              </a:spcBef>
              <a:spcAft>
                <a:spcPts val="1200"/>
              </a:spcAft>
              <a:defRPr lang="en-US" sz="1800" smtClean="0"/>
            </a:lvl2pPr>
            <a:lvl3pPr>
              <a:spcBef>
                <a:spcPts val="0"/>
              </a:spcBef>
              <a:spcAft>
                <a:spcPts val="1200"/>
              </a:spcAft>
              <a:defRPr lang="en-US" sz="1800" smtClean="0"/>
            </a:lvl3pPr>
            <a:lvl4pPr>
              <a:spcBef>
                <a:spcPts val="0"/>
              </a:spcBef>
              <a:spcAft>
                <a:spcPts val="1200"/>
              </a:spcAft>
              <a:defRPr lang="en-US" sz="1800" smtClean="0"/>
            </a:lvl4pPr>
            <a:lvl5pPr>
              <a:spcBef>
                <a:spcPts val="0"/>
              </a:spcBef>
              <a:spcAft>
                <a:spcPts val="1200"/>
              </a:spcAft>
              <a:defRPr lang="en-US" sz="1800"/>
            </a:lvl5pPr>
          </a:lstStyle>
          <a:p>
            <a:pPr lvl="0"/>
            <a:r>
              <a:rPr lang="en-US" dirty="0"/>
              <a:t>Click to add text </a:t>
            </a:r>
          </a:p>
          <a:p>
            <a:pPr marL="685800" lvl="1" indent="-228600"/>
            <a:r>
              <a:rPr lang="en-US" dirty="0"/>
              <a:t>Second level</a:t>
            </a:r>
          </a:p>
          <a:p>
            <a:pPr marL="1143000" lvl="2" indent="-228600"/>
            <a:r>
              <a:rPr lang="en-US" dirty="0"/>
              <a:t>Third level</a:t>
            </a:r>
          </a:p>
          <a:p>
            <a:pPr marL="1600200" lvl="3" indent="-228600"/>
            <a:r>
              <a:rPr lang="en-US" dirty="0"/>
              <a:t>Fourth level</a:t>
            </a:r>
          </a:p>
          <a:p>
            <a:pPr marL="2057400" lvl="4" indent="-228600"/>
            <a:r>
              <a:rPr lang="en-US" dirty="0"/>
              <a:t>Fifth level</a:t>
            </a:r>
          </a:p>
        </p:txBody>
      </p:sp>
      <p:sp>
        <p:nvSpPr>
          <p:cNvPr id="8" name="Table Placeholder 7">
            <a:extLst>
              <a:ext uri="{FF2B5EF4-FFF2-40B4-BE49-F238E27FC236}">
                <a16:creationId xmlns:a16="http://schemas.microsoft.com/office/drawing/2014/main" id="{7113F543-A373-5951-EBF3-7E283EE52F0B}"/>
              </a:ext>
            </a:extLst>
          </p:cNvPr>
          <p:cNvSpPr>
            <a:spLocks noGrp="1"/>
          </p:cNvSpPr>
          <p:nvPr>
            <p:ph type="tbl" sz="quarter" idx="14" hasCustomPrompt="1"/>
          </p:nvPr>
        </p:nvSpPr>
        <p:spPr>
          <a:xfrm>
            <a:off x="5241471" y="2417763"/>
            <a:ext cx="6188529" cy="3736975"/>
          </a:xfrm>
        </p:spPr>
        <p:txBody>
          <a:bodyPr/>
          <a:lstStyle>
            <a:lvl1pPr>
              <a:defRPr/>
            </a:lvl1pPr>
          </a:lstStyle>
          <a:p>
            <a:r>
              <a:rPr lang="en-US" dirty="0"/>
              <a:t>Click icon to insert table</a:t>
            </a:r>
          </a:p>
        </p:txBody>
      </p:sp>
      <p:sp>
        <p:nvSpPr>
          <p:cNvPr id="3" name="Date Placeholder 3">
            <a:extLst>
              <a:ext uri="{FF2B5EF4-FFF2-40B4-BE49-F238E27FC236}">
                <a16:creationId xmlns:a16="http://schemas.microsoft.com/office/drawing/2014/main" id="{7D4C80AE-01F3-AAB6-99EF-DB1B5934CFD2}"/>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C0241B24-8629-6BC2-C72F-A156F0624997}"/>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67FBBF9-1C14-3371-F0AC-507FFCAB3BC1}"/>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81890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1"/>
            <a:ext cx="9866540" cy="1358140"/>
          </a:xfrm>
        </p:spPr>
        <p:txBody>
          <a:bodyPr anchor="t" anchorCtr="0"/>
          <a:lstStyle>
            <a:lvl1pPr>
              <a:defRPr cap="all" baseline="0">
                <a:solidFill>
                  <a:schemeClr val="tx2"/>
                </a:solidFill>
              </a:defRPr>
            </a:lvl1pPr>
          </a:lstStyle>
          <a:p>
            <a:r>
              <a:rPr lang="en-US" dirty="0"/>
              <a:t>CLICK TO ADD TITLE</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63329"/>
              <a:ext cx="1828800" cy="914400"/>
            </a:xfrm>
            <a:prstGeom prst="rect">
              <a:avLst/>
            </a:prstGeom>
          </p:spPr>
        </p:pic>
      </p:grpSp>
      <p:sp>
        <p:nvSpPr>
          <p:cNvPr id="3" name="Content Placeholder 2">
            <a:extLst>
              <a:ext uri="{FF2B5EF4-FFF2-40B4-BE49-F238E27FC236}">
                <a16:creationId xmlns:a16="http://schemas.microsoft.com/office/drawing/2014/main" id="{8A650232-76AA-C9E3-F846-8DB1B44E5AF3}"/>
              </a:ext>
            </a:extLst>
          </p:cNvPr>
          <p:cNvSpPr>
            <a:spLocks noGrp="1"/>
          </p:cNvSpPr>
          <p:nvPr>
            <p:ph sz="half" idx="15" hasCustomPrompt="1"/>
          </p:nvPr>
        </p:nvSpPr>
        <p:spPr>
          <a:xfrm>
            <a:off x="1552575" y="2481940"/>
            <a:ext cx="6477952" cy="3635831"/>
          </a:xfrm>
        </p:spPr>
        <p:txBody>
          <a:bodyPr>
            <a:normAutofit/>
          </a:bodyPr>
          <a:lstStyle>
            <a:lvl1pPr marL="0" indent="0">
              <a:lnSpc>
                <a:spcPct val="100000"/>
              </a:lnSpc>
              <a:spcBef>
                <a:spcPts val="0"/>
              </a:spcBef>
              <a:spcAft>
                <a:spcPts val="600"/>
              </a:spcAft>
              <a:buFont typeface="Arial" panose="020B0604020202020204" pitchFamily="34" charset="0"/>
              <a:buNone/>
              <a:defRPr sz="1800">
                <a:solidFill>
                  <a:schemeClr val="bg1"/>
                </a:solidFill>
              </a:defRPr>
            </a:lvl1pPr>
            <a:lvl2pPr marL="457200">
              <a:lnSpc>
                <a:spcPct val="100000"/>
              </a:lnSpc>
              <a:spcAft>
                <a:spcPts val="600"/>
              </a:spcAft>
              <a:defRPr sz="1800">
                <a:solidFill>
                  <a:schemeClr val="bg1"/>
                </a:solidFill>
              </a:defRPr>
            </a:lvl2pPr>
            <a:lvl3pPr marL="914400">
              <a:lnSpc>
                <a:spcPct val="100000"/>
              </a:lnSpc>
              <a:spcAft>
                <a:spcPts val="600"/>
              </a:spcAft>
              <a:defRPr sz="1800">
                <a:solidFill>
                  <a:schemeClr val="bg1"/>
                </a:solidFill>
              </a:defRPr>
            </a:lvl3pPr>
            <a:lvl4pPr marL="1371600">
              <a:lnSpc>
                <a:spcPct val="100000"/>
              </a:lnSpc>
              <a:spcAft>
                <a:spcPts val="600"/>
              </a:spcAft>
              <a:defRPr sz="1800">
                <a:solidFill>
                  <a:schemeClr val="bg1"/>
                </a:solidFill>
              </a:defRPr>
            </a:lvl4pPr>
            <a:lvl5pPr marL="1828800">
              <a:lnSpc>
                <a:spcPct val="100000"/>
              </a:lnSpc>
              <a:spcAft>
                <a:spcPts val="600"/>
              </a:spcAft>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2">
            <a:extLst>
              <a:ext uri="{FF2B5EF4-FFF2-40B4-BE49-F238E27FC236}">
                <a16:creationId xmlns:a16="http://schemas.microsoft.com/office/drawing/2014/main" id="{37A04978-5D2C-BBF1-9C05-C52717619019}"/>
              </a:ext>
            </a:extLst>
          </p:cNvPr>
          <p:cNvSpPr>
            <a:spLocks noGrp="1"/>
          </p:cNvSpPr>
          <p:nvPr>
            <p:ph type="body" sz="quarter" idx="14" hasCustomPrompt="1"/>
          </p:nvPr>
        </p:nvSpPr>
        <p:spPr>
          <a:xfrm>
            <a:off x="8372723" y="2481940"/>
            <a:ext cx="3046391" cy="3759200"/>
          </a:xfrm>
        </p:spPr>
        <p:txBody>
          <a:bodyPr>
            <a:normAutofit/>
          </a:bodyPr>
          <a:lstStyle>
            <a:lvl1pPr marL="342900" indent="-342900">
              <a:spcAft>
                <a:spcPts val="600"/>
              </a:spcAft>
              <a:buFont typeface="+mj-lt"/>
              <a:buAutoNum type="arabicPeriod"/>
              <a:defRPr sz="1800">
                <a:solidFill>
                  <a:schemeClr val="bg1"/>
                </a:solidFill>
              </a:defRPr>
            </a:lvl1pPr>
            <a:lvl2pPr marL="800100" indent="-342900">
              <a:spcAft>
                <a:spcPts val="600"/>
              </a:spcAft>
              <a:buFont typeface="+mj-lt"/>
              <a:buAutoNum type="alphaLcPeriod"/>
              <a:defRPr sz="1800">
                <a:solidFill>
                  <a:schemeClr val="bg1"/>
                </a:solidFill>
              </a:defRPr>
            </a:lvl2pPr>
            <a:lvl3pPr marL="1257300" indent="-342900">
              <a:spcAft>
                <a:spcPts val="600"/>
              </a:spcAft>
              <a:buFont typeface="+mj-lt"/>
              <a:buAutoNum type="arabicParenR"/>
              <a:defRPr sz="1800">
                <a:solidFill>
                  <a:schemeClr val="bg1"/>
                </a:solidFill>
              </a:defRPr>
            </a:lvl3pPr>
            <a:lvl4pPr marL="1714500" indent="-342900">
              <a:spcAft>
                <a:spcPts val="600"/>
              </a:spcAft>
              <a:buFont typeface="+mj-lt"/>
              <a:buAutoNum type="alphaLcParenR"/>
              <a:defRPr sz="1800">
                <a:solidFill>
                  <a:schemeClr val="bg1"/>
                </a:solidFill>
              </a:defRPr>
            </a:lvl4pPr>
            <a:lvl5pPr marL="2171700" indent="-342900">
              <a:spcAft>
                <a:spcPts val="600"/>
              </a:spcAft>
              <a:buFont typeface="+mj-lt"/>
              <a:buAutoNum type="romanLcPeriod"/>
              <a:defRPr sz="1800">
                <a:solidFill>
                  <a:schemeClr val="bg1"/>
                </a:solidFill>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554480" y="6353175"/>
            <a:ext cx="1097280" cy="365125"/>
          </a:xfrm>
        </p:spPr>
        <p:txBody>
          <a:bodyPr/>
          <a:lstStyle>
            <a:lvl1pPr>
              <a:defRPr>
                <a:solidFill>
                  <a:schemeClr val="bg1"/>
                </a:solidFill>
              </a:defRPr>
            </a:lvl1pPr>
          </a:lstStyle>
          <a:p>
            <a:r>
              <a:rPr lang="en-US"/>
              <a:t>12/11/2023</a:t>
            </a:r>
            <a:endParaRPr lang="en-US" dirty="0"/>
          </a:p>
        </p:txBody>
      </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5744527" y="6350000"/>
            <a:ext cx="2286000" cy="365125"/>
          </a:xfrm>
        </p:spPr>
        <p:txBody>
          <a:bodyPr/>
          <a:lstStyle>
            <a:lvl1pPr>
              <a:defRPr>
                <a:solidFill>
                  <a:schemeClr val="bg1"/>
                </a:solidFill>
              </a:defRPr>
            </a:lvl1pPr>
          </a:lstStyle>
          <a:p>
            <a:r>
              <a:rPr lang="en-US"/>
              <a:t>Presentation title</a:t>
            </a:r>
            <a:endParaRPr lang="en-US" dirty="0"/>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07368846"/>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4155" y="896112"/>
            <a:ext cx="10665845" cy="1325563"/>
          </a:xfrm>
        </p:spPr>
        <p:txBody>
          <a:bodyPr anchor="t" anchorCtr="0"/>
          <a:lstStyle>
            <a:lvl1pPr>
              <a:defRPr cap="all" baseline="0">
                <a:solidFill>
                  <a:schemeClr val="accent1"/>
                </a:solidFill>
              </a:defRPr>
            </a:lvl1pPr>
          </a:lstStyle>
          <a:p>
            <a:r>
              <a:rPr lang="en-US" dirty="0"/>
              <a:t>CLICK TO ADD TITLE</a:t>
            </a:r>
          </a:p>
        </p:txBody>
      </p:sp>
      <p:sp>
        <p:nvSpPr>
          <p:cNvPr id="5" name="Table Placeholder 4">
            <a:extLst>
              <a:ext uri="{FF2B5EF4-FFF2-40B4-BE49-F238E27FC236}">
                <a16:creationId xmlns:a16="http://schemas.microsoft.com/office/drawing/2014/main" id="{E06194BC-6453-CA18-2623-B07F3A5D4E92}"/>
              </a:ext>
            </a:extLst>
          </p:cNvPr>
          <p:cNvSpPr>
            <a:spLocks noGrp="1"/>
          </p:cNvSpPr>
          <p:nvPr>
            <p:ph type="tbl" sz="quarter" idx="13" hasCustomPrompt="1"/>
          </p:nvPr>
        </p:nvSpPr>
        <p:spPr>
          <a:xfrm>
            <a:off x="762000" y="2417763"/>
            <a:ext cx="10665845" cy="3678235"/>
          </a:xfrm>
        </p:spPr>
        <p:txBody>
          <a:bodyPr/>
          <a:lstStyle>
            <a:lvl1pPr>
              <a:defRPr/>
            </a:lvl1pPr>
          </a:lstStyle>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dirty="0"/>
              <a:t>Click icon to insert table</a:t>
            </a:r>
          </a:p>
          <a:p>
            <a:endParaRPr lang="en-US" dirty="0"/>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D3A465A0-88AA-B50B-92D8-3A54928329FB}"/>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6195F626-7C08-9907-6A85-922BE6AA0EF5}"/>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7BBAD34A-4F3F-C89B-BBBC-E7740F414D13}"/>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23748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ontent 2">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1C2927-0A13-DC57-A83B-B8DB787A48CF}"/>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5900245" y="544285"/>
            <a:ext cx="5528217" cy="2685383"/>
          </a:xfrm>
        </p:spPr>
        <p:txBody>
          <a:bodyPr anchor="b">
            <a:normAutofit/>
          </a:bodyPr>
          <a:lstStyle>
            <a:lvl1pPr algn="l">
              <a:defRPr sz="44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5896340" y="3423773"/>
            <a:ext cx="5528217" cy="2029969"/>
          </a:xfrm>
        </p:spPr>
        <p:txBody>
          <a:bodyPr>
            <a:normAutofit/>
          </a:bodyPr>
          <a:lstStyle>
            <a:lvl1pPr marL="0" indent="0" algn="l">
              <a:lnSpc>
                <a:spcPct val="150000"/>
              </a:lnSpc>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762000" y="365125"/>
            <a:ext cx="106680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762000" y="1825625"/>
            <a:ext cx="10668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762000" y="6356350"/>
            <a:ext cx="28194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12/11/2023</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819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666" r:id="rId2"/>
    <p:sldLayoutId id="2147483704" r:id="rId3"/>
    <p:sldLayoutId id="2147483702" r:id="rId4"/>
    <p:sldLayoutId id="2147483678" r:id="rId5"/>
    <p:sldLayoutId id="2147483681" r:id="rId6"/>
    <p:sldLayoutId id="2147483696" r:id="rId7"/>
    <p:sldLayoutId id="2147483691" r:id="rId8"/>
    <p:sldLayoutId id="2147483677" r:id="rId9"/>
    <p:sldLayoutId id="2147483699" r:id="rId10"/>
    <p:sldLayoutId id="2147483685" r:id="rId11"/>
    <p:sldLayoutId id="2147483676" r:id="rId12"/>
    <p:sldLayoutId id="2147483649" r:id="rId1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userDrawn="1">
          <p15:clr>
            <a:srgbClr val="5ACBF0"/>
          </p15:clr>
        </p15:guide>
        <p15:guide id="2" pos="1920" userDrawn="1">
          <p15:clr>
            <a:srgbClr val="F26B43"/>
          </p15:clr>
        </p15:guide>
        <p15:guide id="3" pos="5760" userDrawn="1">
          <p15:clr>
            <a:srgbClr val="F26B43"/>
          </p15:clr>
        </p15:guide>
        <p15:guide id="4" orient="horz" pos="2160" userDrawn="1">
          <p15:clr>
            <a:srgbClr val="F26B43"/>
          </p15:clr>
        </p15:guide>
        <p15:guide id="5" pos="1272" userDrawn="1">
          <p15:clr>
            <a:srgbClr val="9FCC3B"/>
          </p15:clr>
        </p15:guide>
        <p15:guide id="6" pos="2544" userDrawn="1">
          <p15:clr>
            <a:srgbClr val="9FCC3B"/>
          </p15:clr>
        </p15:guide>
        <p15:guide id="7" pos="5112" userDrawn="1">
          <p15:clr>
            <a:srgbClr val="9FCC3B"/>
          </p15:clr>
        </p15:guide>
        <p15:guide id="8" pos="6408" userDrawn="1">
          <p15:clr>
            <a:srgbClr val="9FCC3B"/>
          </p15:clr>
        </p15:guide>
        <p15:guide id="9" pos="3940" userDrawn="1">
          <p15:clr>
            <a:srgbClr val="F26B43"/>
          </p15:clr>
        </p15:guide>
        <p15:guide id="10" pos="7104"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5.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2965622" y="288680"/>
            <a:ext cx="8722832" cy="3590596"/>
          </a:xfrm>
        </p:spPr>
        <p:txBody>
          <a:bodyPr>
            <a:normAutofit/>
          </a:bodyPr>
          <a:lstStyle/>
          <a:p>
            <a:r>
              <a:rPr lang="en-US" dirty="0"/>
              <a:t>Machine learning Migraine Classifier </a:t>
            </a:r>
          </a:p>
        </p:txBody>
      </p:sp>
      <p:sp>
        <p:nvSpPr>
          <p:cNvPr id="3" name="TextBox 2">
            <a:extLst>
              <a:ext uri="{FF2B5EF4-FFF2-40B4-BE49-F238E27FC236}">
                <a16:creationId xmlns:a16="http://schemas.microsoft.com/office/drawing/2014/main" id="{D197490C-2022-2568-952E-F594EB759728}"/>
              </a:ext>
            </a:extLst>
          </p:cNvPr>
          <p:cNvSpPr txBox="1"/>
          <p:nvPr/>
        </p:nvSpPr>
        <p:spPr>
          <a:xfrm>
            <a:off x="5387546" y="3614351"/>
            <a:ext cx="5313405" cy="369332"/>
          </a:xfrm>
          <a:prstGeom prst="rect">
            <a:avLst/>
          </a:prstGeom>
          <a:noFill/>
        </p:spPr>
        <p:txBody>
          <a:bodyPr wrap="square" rtlCol="0">
            <a:spAutoFit/>
          </a:bodyPr>
          <a:lstStyle/>
          <a:p>
            <a:r>
              <a:rPr lang="en-US" dirty="0">
                <a:solidFill>
                  <a:schemeClr val="bg1"/>
                </a:solidFill>
              </a:rPr>
              <a:t>By: Michael McGivern</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Lst>
          </p:cNvPr>
          <p:cNvSpPr>
            <a:spLocks noGrp="1"/>
          </p:cNvSpPr>
          <p:nvPr>
            <p:ph type="title"/>
          </p:nvPr>
        </p:nvSpPr>
        <p:spPr>
          <a:xfrm>
            <a:off x="4933950" y="429461"/>
            <a:ext cx="6343650" cy="2668463"/>
          </a:xfrm>
        </p:spPr>
        <p:txBody>
          <a:bodyPr>
            <a:normAutofit/>
          </a:bodyPr>
          <a:lstStyle/>
          <a:p>
            <a:r>
              <a:rPr lang="en-US" dirty="0"/>
              <a:t>Problem Statement</a:t>
            </a:r>
            <a:endParaRPr lang="en-ZA" dirty="0"/>
          </a:p>
        </p:txBody>
      </p:sp>
      <p:sp>
        <p:nvSpPr>
          <p:cNvPr id="3" name="Subtitle 2">
            <a:extLst>
              <a:ext uri="{FF2B5EF4-FFF2-40B4-BE49-F238E27FC236}">
                <a16:creationId xmlns:a16="http://schemas.microsoft.com/office/drawing/2014/main" id="{35E3EA69-4E0E-41BD-8095-A124225A2647}"/>
              </a:ext>
            </a:extLst>
          </p:cNvPr>
          <p:cNvSpPr>
            <a:spLocks noGrp="1"/>
          </p:cNvSpPr>
          <p:nvPr>
            <p:ph sz="half" idx="14"/>
          </p:nvPr>
        </p:nvSpPr>
        <p:spPr>
          <a:xfrm>
            <a:off x="4938713" y="3300413"/>
            <a:ext cx="6338887" cy="2668587"/>
          </a:xfrm>
        </p:spPr>
        <p:txBody>
          <a:bodyPr>
            <a:normAutofit/>
          </a:bodyPr>
          <a:lstStyle/>
          <a:p>
            <a:r>
              <a:rPr lang="en-US" dirty="0"/>
              <a:t>To build and deploy a Machine Learning-based migraine classification model that will correctly classify migraines.</a:t>
            </a:r>
          </a:p>
        </p:txBody>
      </p:sp>
      <p:sp>
        <p:nvSpPr>
          <p:cNvPr id="6" name="Slide Number Placeholder 5">
            <a:extLst>
              <a:ext uri="{FF2B5EF4-FFF2-40B4-BE49-F238E27FC236}">
                <a16:creationId xmlns:a16="http://schemas.microsoft.com/office/drawing/2014/main" id="{67927DCA-F11F-1716-00DA-9EF49F131ABD}"/>
              </a:ext>
            </a:extLst>
          </p:cNvPr>
          <p:cNvSpPr>
            <a:spLocks noGrp="1"/>
          </p:cNvSpPr>
          <p:nvPr>
            <p:ph type="sldNum" sz="quarter" idx="12"/>
          </p:nvPr>
        </p:nvSpPr>
        <p:spPr/>
        <p:txBody>
          <a:bodyPr/>
          <a:lstStyle/>
          <a:p>
            <a:fld id="{B5CEABB6-07DC-46E8-9B57-56EC44A396E5}"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a:off x="4818498" y="-39142"/>
            <a:ext cx="6594768" cy="1600928"/>
          </a:xfrm>
        </p:spPr>
        <p:txBody>
          <a:bodyPr>
            <a:normAutofit/>
          </a:bodyPr>
          <a:lstStyle/>
          <a:p>
            <a:r>
              <a:rPr lang="en-US" dirty="0"/>
              <a:t>Technology stack</a:t>
            </a:r>
          </a:p>
        </p:txBody>
      </p:sp>
      <p:pic>
        <p:nvPicPr>
          <p:cNvPr id="34" name="Picture Placeholder 33" descr="Aerial view of a neon highway intersection">
            <a:extLst>
              <a:ext uri="{FF2B5EF4-FFF2-40B4-BE49-F238E27FC236}">
                <a16:creationId xmlns:a16="http://schemas.microsoft.com/office/drawing/2014/main" id="{9289CE93-EC50-55DB-CFE0-1266AEC87B19}"/>
              </a:ext>
            </a:extLst>
          </p:cNvPr>
          <p:cNvPicPr>
            <a:picLocks noGrp="1" noChangeAspect="1"/>
          </p:cNvPicPr>
          <p:nvPr>
            <p:ph type="pic" sz="quarter" idx="13"/>
          </p:nvPr>
        </p:nvPicPr>
        <p:blipFill>
          <a:blip r:embed="rId3"/>
          <a:srcRect l="24936" r="24936"/>
          <a:stretch/>
        </p:blipFill>
        <p:spPr>
          <a:xfrm rot="10800000">
            <a:off x="1" y="761322"/>
            <a:ext cx="4076118" cy="6096678"/>
          </a:xfrm>
        </p:spPr>
      </p:pic>
      <p:sp>
        <p:nvSpPr>
          <p:cNvPr id="31" name="Oval 30">
            <a:extLst>
              <a:ext uri="{FF2B5EF4-FFF2-40B4-BE49-F238E27FC236}">
                <a16:creationId xmlns:a16="http://schemas.microsoft.com/office/drawing/2014/main" id="{F466A906-2869-BB36-138E-D45F62E92210}"/>
              </a:ext>
              <a:ext uri="{C183D7F6-B498-43B3-948B-1728B52AA6E4}">
                <adec:decorative xmlns:adec="http://schemas.microsoft.com/office/drawing/2017/decorative" val="1"/>
              </a:ext>
            </a:extLst>
          </p:cNvPr>
          <p:cNvSpPr/>
          <p:nvPr/>
        </p:nvSpPr>
        <p:spPr>
          <a:xfrm>
            <a:off x="3903349" y="4646277"/>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2" name="Straight Connector 31">
            <a:extLst>
              <a:ext uri="{FF2B5EF4-FFF2-40B4-BE49-F238E27FC236}">
                <a16:creationId xmlns:a16="http://schemas.microsoft.com/office/drawing/2014/main" id="{06186C3A-548E-AD87-3029-964123530768}"/>
              </a:ext>
              <a:ext uri="{C183D7F6-B498-43B3-948B-1728B52AA6E4}">
                <adec:decorative xmlns:adec="http://schemas.microsoft.com/office/drawing/2017/decorative" val="1"/>
              </a:ext>
            </a:extLst>
          </p:cNvPr>
          <p:cNvCxnSpPr>
            <a:cxnSpLocks/>
          </p:cNvCxnSpPr>
          <p:nvPr/>
        </p:nvCxnSpPr>
        <p:spPr>
          <a:xfrm>
            <a:off x="-97971" y="660400"/>
            <a:ext cx="4160955" cy="414915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25F84D2-5C64-9978-2D6E-D654F5909DFB}"/>
              </a:ext>
            </a:extLst>
          </p:cNvPr>
          <p:cNvSpPr txBox="1"/>
          <p:nvPr/>
        </p:nvSpPr>
        <p:spPr>
          <a:xfrm>
            <a:off x="4670854" y="1166842"/>
            <a:ext cx="7080421" cy="5216813"/>
          </a:xfrm>
          <a:prstGeom prst="rect">
            <a:avLst/>
          </a:prstGeom>
          <a:noFill/>
        </p:spPr>
        <p:txBody>
          <a:bodyPr wrap="square" rtlCol="0">
            <a:spAutoFit/>
          </a:bodyPr>
          <a:lstStyle/>
          <a:p>
            <a:pPr marL="342900" indent="-342900">
              <a:buFont typeface="Arial" panose="020B0604020202020204" pitchFamily="34" charset="0"/>
              <a:buChar char="•"/>
            </a:pPr>
            <a:r>
              <a:rPr lang="en-US" sz="2100" dirty="0">
                <a:solidFill>
                  <a:schemeClr val="bg1"/>
                </a:solidFill>
              </a:rPr>
              <a:t>Python (Pandas, NumPy, SciPy) for data cleaning, analysis and statistical test</a:t>
            </a:r>
          </a:p>
          <a:p>
            <a:pPr marL="800100" lvl="1" indent="-342900">
              <a:buFont typeface="Arial" panose="020B0604020202020204" pitchFamily="34" charset="0"/>
              <a:buChar char="•"/>
            </a:pPr>
            <a:r>
              <a:rPr lang="en-US" sz="2100" dirty="0">
                <a:solidFill>
                  <a:schemeClr val="bg1"/>
                </a:solidFill>
              </a:rPr>
              <a:t>Python’s Collections, Warnings, Sys and Site for utility</a:t>
            </a:r>
          </a:p>
          <a:p>
            <a:pPr marL="342900" indent="-342900">
              <a:buFont typeface="Arial" panose="020B0604020202020204" pitchFamily="34" charset="0"/>
              <a:buChar char="•"/>
            </a:pPr>
            <a:r>
              <a:rPr lang="en-US" sz="2100" dirty="0">
                <a:solidFill>
                  <a:schemeClr val="bg1"/>
                </a:solidFill>
              </a:rPr>
              <a:t>Matplotlib, Seaborn and </a:t>
            </a:r>
            <a:r>
              <a:rPr lang="en-US" sz="2100" dirty="0" err="1">
                <a:solidFill>
                  <a:schemeClr val="bg1"/>
                </a:solidFill>
              </a:rPr>
              <a:t>Plotly</a:t>
            </a:r>
            <a:r>
              <a:rPr lang="en-US" sz="2100" dirty="0">
                <a:solidFill>
                  <a:schemeClr val="bg1"/>
                </a:solidFill>
              </a:rPr>
              <a:t> for  Visualizations</a:t>
            </a:r>
          </a:p>
          <a:p>
            <a:pPr marL="342900" indent="-342900">
              <a:buFont typeface="Arial" panose="020B0604020202020204" pitchFamily="34" charset="0"/>
              <a:buChar char="•"/>
            </a:pPr>
            <a:r>
              <a:rPr lang="en-US" sz="2100" dirty="0" err="1">
                <a:solidFill>
                  <a:schemeClr val="bg1"/>
                </a:solidFill>
              </a:rPr>
              <a:t>Jupyter</a:t>
            </a:r>
            <a:r>
              <a:rPr lang="en-US" sz="2100" dirty="0">
                <a:solidFill>
                  <a:schemeClr val="bg1"/>
                </a:solidFill>
              </a:rPr>
              <a:t> Notebook for Exploratory Analysis</a:t>
            </a:r>
          </a:p>
          <a:p>
            <a:pPr marL="342900" indent="-342900">
              <a:buFont typeface="Arial" panose="020B0604020202020204" pitchFamily="34" charset="0"/>
              <a:buChar char="•"/>
            </a:pPr>
            <a:r>
              <a:rPr lang="en-US" sz="2100" dirty="0" err="1">
                <a:solidFill>
                  <a:schemeClr val="bg1"/>
                </a:solidFill>
              </a:rPr>
              <a:t>Sklearn</a:t>
            </a:r>
            <a:r>
              <a:rPr lang="en-US" sz="2100" dirty="0">
                <a:solidFill>
                  <a:schemeClr val="bg1"/>
                </a:solidFill>
              </a:rPr>
              <a:t> for Machine Learning algorithms</a:t>
            </a:r>
          </a:p>
          <a:p>
            <a:pPr marL="800100" lvl="1" indent="-342900">
              <a:buFont typeface="Arial" panose="020B0604020202020204" pitchFamily="34" charset="0"/>
              <a:buChar char="•"/>
            </a:pPr>
            <a:r>
              <a:rPr lang="en-US" sz="2100" dirty="0" err="1">
                <a:solidFill>
                  <a:schemeClr val="bg1"/>
                </a:solidFill>
              </a:rPr>
              <a:t>Xgboot</a:t>
            </a:r>
            <a:r>
              <a:rPr lang="en-US" sz="2100" dirty="0">
                <a:solidFill>
                  <a:schemeClr val="bg1"/>
                </a:solidFill>
              </a:rPr>
              <a:t> and </a:t>
            </a:r>
            <a:r>
              <a:rPr lang="en-US" sz="2100" dirty="0" err="1">
                <a:solidFill>
                  <a:schemeClr val="bg1"/>
                </a:solidFill>
              </a:rPr>
              <a:t>Lightgbm</a:t>
            </a:r>
            <a:r>
              <a:rPr lang="en-US" sz="2100" dirty="0">
                <a:solidFill>
                  <a:schemeClr val="bg1"/>
                </a:solidFill>
              </a:rPr>
              <a:t>  for complex Machine Learning algorithms</a:t>
            </a:r>
          </a:p>
          <a:p>
            <a:pPr marL="342900" indent="-342900">
              <a:buFont typeface="Arial" panose="020B0604020202020204" pitchFamily="34" charset="0"/>
              <a:buChar char="•"/>
            </a:pPr>
            <a:r>
              <a:rPr lang="en-US" sz="2100" dirty="0" err="1">
                <a:solidFill>
                  <a:schemeClr val="bg1"/>
                </a:solidFill>
              </a:rPr>
              <a:t>Tensorflow</a:t>
            </a:r>
            <a:r>
              <a:rPr lang="en-US" sz="2100" dirty="0">
                <a:solidFill>
                  <a:schemeClr val="bg1"/>
                </a:solidFill>
              </a:rPr>
              <a:t> </a:t>
            </a:r>
            <a:r>
              <a:rPr lang="en-US" sz="2100" dirty="0" err="1">
                <a:solidFill>
                  <a:schemeClr val="bg1"/>
                </a:solidFill>
              </a:rPr>
              <a:t>Keras</a:t>
            </a:r>
            <a:r>
              <a:rPr lang="en-US" sz="2100" dirty="0">
                <a:solidFill>
                  <a:schemeClr val="bg1"/>
                </a:solidFill>
              </a:rPr>
              <a:t> for Deep Learning Neural Networks</a:t>
            </a:r>
          </a:p>
          <a:p>
            <a:pPr marL="342900" indent="-342900">
              <a:buFont typeface="Arial" panose="020B0604020202020204" pitchFamily="34" charset="0"/>
              <a:buChar char="•"/>
            </a:pPr>
            <a:r>
              <a:rPr lang="en-US" sz="2100" dirty="0" err="1">
                <a:solidFill>
                  <a:schemeClr val="bg1"/>
                </a:solidFill>
              </a:rPr>
              <a:t>Imblearn</a:t>
            </a:r>
            <a:r>
              <a:rPr lang="en-US" sz="2100" dirty="0">
                <a:solidFill>
                  <a:schemeClr val="bg1"/>
                </a:solidFill>
              </a:rPr>
              <a:t> SMOTE for data balancing, synthesis and interpolation</a:t>
            </a:r>
          </a:p>
          <a:p>
            <a:pPr marL="342900" indent="-342900">
              <a:buFont typeface="Arial" panose="020B0604020202020204" pitchFamily="34" charset="0"/>
              <a:buChar char="•"/>
            </a:pPr>
            <a:r>
              <a:rPr lang="en-US" sz="2100" dirty="0" err="1">
                <a:solidFill>
                  <a:schemeClr val="bg1"/>
                </a:solidFill>
              </a:rPr>
              <a:t>Optuna</a:t>
            </a:r>
            <a:r>
              <a:rPr lang="en-US" sz="2100" dirty="0">
                <a:solidFill>
                  <a:schemeClr val="bg1"/>
                </a:solidFill>
              </a:rPr>
              <a:t> for model optimization</a:t>
            </a:r>
          </a:p>
          <a:p>
            <a:pPr marL="342900" indent="-342900">
              <a:buFont typeface="Arial" panose="020B0604020202020204" pitchFamily="34" charset="0"/>
              <a:buChar char="•"/>
            </a:pPr>
            <a:r>
              <a:rPr lang="en-US" sz="2100" dirty="0" err="1">
                <a:solidFill>
                  <a:schemeClr val="bg1"/>
                </a:solidFill>
              </a:rPr>
              <a:t>Joblib</a:t>
            </a:r>
            <a:r>
              <a:rPr lang="en-US" sz="2100" dirty="0">
                <a:solidFill>
                  <a:schemeClr val="bg1"/>
                </a:solidFill>
              </a:rPr>
              <a:t> and Pickle for Model Storage</a:t>
            </a:r>
          </a:p>
          <a:p>
            <a:pPr marL="342900" indent="-342900">
              <a:buFont typeface="Arial" panose="020B0604020202020204" pitchFamily="34" charset="0"/>
              <a:buChar char="•"/>
            </a:pPr>
            <a:r>
              <a:rPr lang="en-US" sz="2100" dirty="0">
                <a:solidFill>
                  <a:schemeClr val="bg1"/>
                </a:solidFill>
              </a:rPr>
              <a:t>PowerPoint for Storytelling and reporting</a:t>
            </a:r>
          </a:p>
          <a:p>
            <a:endParaRPr lang="en-US" dirty="0">
              <a:solidFill>
                <a:schemeClr val="bg1"/>
              </a:solidFill>
            </a:endParaRPr>
          </a:p>
        </p:txBody>
      </p:sp>
    </p:spTree>
    <p:extLst>
      <p:ext uri="{BB962C8B-B14F-4D97-AF65-F5344CB8AC3E}">
        <p14:creationId xmlns:p14="http://schemas.microsoft.com/office/powerpoint/2010/main" val="707789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4174089" y="-2220254"/>
            <a:ext cx="7254373" cy="3445329"/>
          </a:xfrm>
        </p:spPr>
        <p:txBody>
          <a:bodyPr>
            <a:normAutofit/>
          </a:bodyPr>
          <a:lstStyle/>
          <a:p>
            <a:r>
              <a:rPr lang="en-US" dirty="0"/>
              <a:t>Features of dataset​</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4669151" y="1225075"/>
            <a:ext cx="6594768" cy="5188082"/>
          </a:xfrm>
        </p:spPr>
        <p:txBody>
          <a:bodyPr>
            <a:normAutofit fontScale="85000" lnSpcReduction="10000"/>
          </a:bodyPr>
          <a:lstStyle/>
          <a:p>
            <a:r>
              <a:rPr lang="en-US" dirty="0"/>
              <a:t>Age</a:t>
            </a:r>
          </a:p>
          <a:p>
            <a:r>
              <a:rPr lang="en-US" dirty="0"/>
              <a:t>Duration</a:t>
            </a:r>
          </a:p>
          <a:p>
            <a:r>
              <a:rPr lang="en-US" dirty="0"/>
              <a:t>Frequency</a:t>
            </a:r>
          </a:p>
          <a:p>
            <a:r>
              <a:rPr lang="en-US" dirty="0"/>
              <a:t>Location</a:t>
            </a:r>
          </a:p>
          <a:p>
            <a:r>
              <a:rPr lang="en-US" dirty="0"/>
              <a:t>Character</a:t>
            </a:r>
          </a:p>
          <a:p>
            <a:r>
              <a:rPr lang="en-US" dirty="0"/>
              <a:t>Intensity</a:t>
            </a:r>
          </a:p>
          <a:p>
            <a:r>
              <a:rPr lang="en-US" dirty="0"/>
              <a:t>Symptoms</a:t>
            </a:r>
          </a:p>
          <a:p>
            <a:r>
              <a:rPr lang="en-US" dirty="0"/>
              <a:t>Dysfunctional Physical Factor</a:t>
            </a:r>
          </a:p>
          <a:p>
            <a:r>
              <a:rPr lang="en-US" dirty="0"/>
              <a:t>Type or Migraine</a:t>
            </a:r>
          </a:p>
        </p:txBody>
      </p:sp>
      <p:pic>
        <p:nvPicPr>
          <p:cNvPr id="13" name="Picture Placeholder 12" descr="Low angle view of tall buildings">
            <a:extLst>
              <a:ext uri="{FF2B5EF4-FFF2-40B4-BE49-F238E27FC236}">
                <a16:creationId xmlns:a16="http://schemas.microsoft.com/office/drawing/2014/main" id="{1DFE730E-30E7-DA99-A3EE-ACB889D161E9}"/>
              </a:ext>
            </a:extLst>
          </p:cNvPr>
          <p:cNvPicPr>
            <a:picLocks noGrp="1" noChangeAspect="1"/>
          </p:cNvPicPr>
          <p:nvPr>
            <p:ph type="pic" sz="quarter" idx="13"/>
          </p:nvPr>
        </p:nvPicPr>
        <p:blipFill>
          <a:blip r:embed="rId3"/>
          <a:srcRect l="43" r="43"/>
          <a:stretch/>
        </p:blipFill>
        <p:spPr>
          <a:xfrm>
            <a:off x="0" y="-1"/>
            <a:ext cx="4076118" cy="6096678"/>
          </a:xfrm>
        </p:spPr>
      </p:pic>
      <p:sp>
        <p:nvSpPr>
          <p:cNvPr id="44" name="Oval 43">
            <a:extLst>
              <a:ext uri="{FF2B5EF4-FFF2-40B4-BE49-F238E27FC236}">
                <a16:creationId xmlns:a16="http://schemas.microsoft.com/office/drawing/2014/main" id="{5F855448-57DF-E468-AF41-00CAAC2D7C74}"/>
              </a:ext>
              <a:ext uri="{C183D7F6-B498-43B3-948B-1728B52AA6E4}">
                <adec:decorative xmlns:adec="http://schemas.microsoft.com/office/drawing/2017/decorative" val="1"/>
              </a:ext>
            </a:extLst>
          </p:cNvPr>
          <p:cNvSpPr/>
          <p:nvPr/>
        </p:nvSpPr>
        <p:spPr>
          <a:xfrm>
            <a:off x="3903349" y="5895479"/>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Connector 42">
            <a:extLst>
              <a:ext uri="{FF2B5EF4-FFF2-40B4-BE49-F238E27FC236}">
                <a16:creationId xmlns:a16="http://schemas.microsoft.com/office/drawing/2014/main" id="{752FDA21-768F-9929-E6D6-D78CD4F8EA24}"/>
              </a:ext>
              <a:ext uri="{C183D7F6-B498-43B3-948B-1728B52AA6E4}">
                <adec:decorative xmlns:adec="http://schemas.microsoft.com/office/drawing/2017/decorative" val="1"/>
              </a:ext>
            </a:extLst>
          </p:cNvPr>
          <p:cNvCxnSpPr>
            <a:cxnSpLocks/>
          </p:cNvCxnSpPr>
          <p:nvPr/>
        </p:nvCxnSpPr>
        <p:spPr>
          <a:xfrm>
            <a:off x="-97971" y="1909602"/>
            <a:ext cx="4160955" cy="414915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9539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B819B-66F2-3475-A06F-B115AB5D9472}"/>
              </a:ext>
            </a:extLst>
          </p:cNvPr>
          <p:cNvSpPr>
            <a:spLocks noGrp="1"/>
          </p:cNvSpPr>
          <p:nvPr>
            <p:ph type="ctrTitle"/>
          </p:nvPr>
        </p:nvSpPr>
        <p:spPr/>
        <p:txBody>
          <a:bodyPr/>
          <a:lstStyle/>
          <a:p>
            <a:r>
              <a:rPr lang="en-US" dirty="0"/>
              <a:t>Exploratory data analysis </a:t>
            </a:r>
          </a:p>
        </p:txBody>
      </p:sp>
      <p:sp>
        <p:nvSpPr>
          <p:cNvPr id="3" name="Subtitle 2">
            <a:extLst>
              <a:ext uri="{FF2B5EF4-FFF2-40B4-BE49-F238E27FC236}">
                <a16:creationId xmlns:a16="http://schemas.microsoft.com/office/drawing/2014/main" id="{41523C47-3E7B-4B3F-4DB6-93A0FAC21D12}"/>
              </a:ext>
            </a:extLst>
          </p:cNvPr>
          <p:cNvSpPr>
            <a:spLocks noGrp="1"/>
          </p:cNvSpPr>
          <p:nvPr>
            <p:ph type="subTitle" idx="1"/>
          </p:nvPr>
        </p:nvSpPr>
        <p:spPr/>
        <p:txBody>
          <a:bodyPr/>
          <a:lstStyle/>
          <a:p>
            <a:r>
              <a:rPr lang="en-US" dirty="0"/>
              <a:t>With Statistical Summary</a:t>
            </a:r>
          </a:p>
        </p:txBody>
      </p:sp>
      <p:sp>
        <p:nvSpPr>
          <p:cNvPr id="4" name="Slide Number Placeholder 3">
            <a:extLst>
              <a:ext uri="{FF2B5EF4-FFF2-40B4-BE49-F238E27FC236}">
                <a16:creationId xmlns:a16="http://schemas.microsoft.com/office/drawing/2014/main" id="{414BDF3C-53E6-C309-1CAA-31E42D53DCB0}"/>
              </a:ext>
            </a:extLst>
          </p:cNvPr>
          <p:cNvSpPr>
            <a:spLocks noGrp="1"/>
          </p:cNvSpPr>
          <p:nvPr>
            <p:ph type="sldNum" sz="quarter" idx="12"/>
          </p:nvPr>
        </p:nvSpPr>
        <p:spPr/>
        <p:txBody>
          <a:bodyPr/>
          <a:lstStyle/>
          <a:p>
            <a:fld id="{B5CEABB6-07DC-46E8-9B57-56EC44A396E5}" type="slidenum">
              <a:rPr lang="en-US" smtClean="0"/>
              <a:pPr/>
              <a:t>5</a:t>
            </a:fld>
            <a:endParaRPr lang="en-US" dirty="0"/>
          </a:p>
        </p:txBody>
      </p:sp>
    </p:spTree>
    <p:extLst>
      <p:ext uri="{BB962C8B-B14F-4D97-AF65-F5344CB8AC3E}">
        <p14:creationId xmlns:p14="http://schemas.microsoft.com/office/powerpoint/2010/main" val="1214886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762001" y="896112"/>
            <a:ext cx="6589150" cy="1988706"/>
          </a:xfrm>
        </p:spPr>
        <p:txBody>
          <a:bodyPr/>
          <a:lstStyle/>
          <a:p>
            <a:r>
              <a:rPr lang="en-US" dirty="0"/>
              <a:t>Age Distribution</a:t>
            </a:r>
          </a:p>
        </p:txBody>
      </p:sp>
      <p:sp>
        <p:nvSpPr>
          <p:cNvPr id="6" name="Slide Number Placeholder 5">
            <a:extLst>
              <a:ext uri="{FF2B5EF4-FFF2-40B4-BE49-F238E27FC236}">
                <a16:creationId xmlns:a16="http://schemas.microsoft.com/office/drawing/2014/main" id="{A4AC050D-BAF4-C23C-F8EC-24DEC4293002}"/>
              </a:ext>
            </a:extLst>
          </p:cNvPr>
          <p:cNvSpPr>
            <a:spLocks noGrp="1"/>
          </p:cNvSpPr>
          <p:nvPr>
            <p:ph type="sldNum" sz="quarter" idx="12"/>
          </p:nvPr>
        </p:nvSpPr>
        <p:spPr/>
        <p:txBody>
          <a:bodyPr/>
          <a:lstStyle/>
          <a:p>
            <a:fld id="{B5CEABB6-07DC-46E8-9B57-56EC44A396E5}" type="slidenum">
              <a:rPr lang="en-US" smtClean="0"/>
              <a:pPr/>
              <a:t>6</a:t>
            </a:fld>
            <a:endParaRPr lang="en-US" dirty="0"/>
          </a:p>
        </p:txBody>
      </p:sp>
      <p:pic>
        <p:nvPicPr>
          <p:cNvPr id="11" name="Content Placeholder 10">
            <a:extLst>
              <a:ext uri="{FF2B5EF4-FFF2-40B4-BE49-F238E27FC236}">
                <a16:creationId xmlns:a16="http://schemas.microsoft.com/office/drawing/2014/main" id="{1B948716-CC41-6339-9DFC-278B1C4CA912}"/>
              </a:ext>
            </a:extLst>
          </p:cNvPr>
          <p:cNvPicPr>
            <a:picLocks noGrp="1" noChangeAspect="1"/>
          </p:cNvPicPr>
          <p:nvPr>
            <p:ph sz="half" idx="14"/>
          </p:nvPr>
        </p:nvPicPr>
        <p:blipFill>
          <a:blip r:embed="rId3"/>
          <a:stretch>
            <a:fillRect/>
          </a:stretch>
        </p:blipFill>
        <p:spPr>
          <a:xfrm>
            <a:off x="4225452" y="1794896"/>
            <a:ext cx="7966548" cy="5063104"/>
          </a:xfrm>
        </p:spPr>
      </p:pic>
      <p:sp>
        <p:nvSpPr>
          <p:cNvPr id="12" name="TextBox 11">
            <a:extLst>
              <a:ext uri="{FF2B5EF4-FFF2-40B4-BE49-F238E27FC236}">
                <a16:creationId xmlns:a16="http://schemas.microsoft.com/office/drawing/2014/main" id="{38661BD0-4552-8809-B77A-F90441809F31}"/>
              </a:ext>
            </a:extLst>
          </p:cNvPr>
          <p:cNvSpPr txBox="1"/>
          <p:nvPr/>
        </p:nvSpPr>
        <p:spPr>
          <a:xfrm>
            <a:off x="240957" y="2150075"/>
            <a:ext cx="3675576" cy="3693319"/>
          </a:xfrm>
          <a:prstGeom prst="rect">
            <a:avLst/>
          </a:prstGeom>
          <a:noFill/>
        </p:spPr>
        <p:txBody>
          <a:bodyPr wrap="square" rtlCol="0">
            <a:spAutoFit/>
          </a:bodyPr>
          <a:lstStyle/>
          <a:p>
            <a:r>
              <a:rPr lang="en-US" dirty="0">
                <a:solidFill>
                  <a:schemeClr val="bg1"/>
                </a:solidFill>
              </a:rPr>
              <a:t>This chart shows a right-skewed dataset with the majority of the patients within the dataset being of a younger age. </a:t>
            </a:r>
          </a:p>
          <a:p>
            <a:endParaRPr lang="en-US" dirty="0">
              <a:solidFill>
                <a:schemeClr val="bg1"/>
              </a:solidFill>
            </a:endParaRPr>
          </a:p>
          <a:p>
            <a:r>
              <a:rPr lang="en-US" dirty="0">
                <a:solidFill>
                  <a:schemeClr val="bg1"/>
                </a:solidFill>
              </a:rPr>
              <a:t>Thus, age bias will be an important limitation of the models trained as older aged individuals are not as represented, the models trained off this dataset could draw misleading conclusions for older aged individuals</a:t>
            </a:r>
          </a:p>
        </p:txBody>
      </p:sp>
    </p:spTree>
    <p:extLst>
      <p:ext uri="{BB962C8B-B14F-4D97-AF65-F5344CB8AC3E}">
        <p14:creationId xmlns:p14="http://schemas.microsoft.com/office/powerpoint/2010/main" val="1346372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1495167" y="0"/>
            <a:ext cx="11648303" cy="1588574"/>
          </a:xfrm>
        </p:spPr>
        <p:txBody>
          <a:bodyPr>
            <a:normAutofit/>
          </a:bodyPr>
          <a:lstStyle/>
          <a:p>
            <a:r>
              <a:rPr lang="en-US" dirty="0"/>
              <a:t>Duration of migraine distribution</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6963254" y="1802673"/>
            <a:ext cx="5035157" cy="4915299"/>
          </a:xfrm>
        </p:spPr>
        <p:txBody>
          <a:bodyPr>
            <a:normAutofit/>
          </a:bodyPr>
          <a:lstStyle/>
          <a:p>
            <a:r>
              <a:rPr lang="en-US" dirty="0"/>
              <a:t>This chart shows that the vast majority of patients have a migraine that lasts about one hour.</a:t>
            </a:r>
          </a:p>
          <a:p>
            <a:r>
              <a:rPr lang="en-US" dirty="0"/>
              <a:t>This chart shows a monotonic decline whereas duration increases frequency drops off sharply. </a:t>
            </a:r>
          </a:p>
          <a:p>
            <a:r>
              <a:rPr lang="en-US" dirty="0"/>
              <a:t>  </a:t>
            </a:r>
          </a:p>
        </p:txBody>
      </p:sp>
      <p:sp>
        <p:nvSpPr>
          <p:cNvPr id="4" name="Slide Number Placeholder 3">
            <a:extLst>
              <a:ext uri="{FF2B5EF4-FFF2-40B4-BE49-F238E27FC236}">
                <a16:creationId xmlns:a16="http://schemas.microsoft.com/office/drawing/2014/main" id="{58D8D8EF-09F7-2BAC-3EC4-6E8F40515A5D}"/>
              </a:ext>
            </a:extLst>
          </p:cNvPr>
          <p:cNvSpPr>
            <a:spLocks noGrp="1"/>
          </p:cNvSpPr>
          <p:nvPr>
            <p:ph type="sldNum" sz="quarter" idx="12"/>
          </p:nvPr>
        </p:nvSpPr>
        <p:spPr/>
        <p:txBody>
          <a:bodyPr/>
          <a:lstStyle/>
          <a:p>
            <a:fld id="{B5CEABB6-07DC-46E8-9B57-56EC44A396E5}" type="slidenum">
              <a:rPr lang="en-US" smtClean="0"/>
              <a:pPr/>
              <a:t>7</a:t>
            </a:fld>
            <a:endParaRPr lang="en-US" dirty="0"/>
          </a:p>
        </p:txBody>
      </p:sp>
      <p:pic>
        <p:nvPicPr>
          <p:cNvPr id="6" name="Picture 5">
            <a:extLst>
              <a:ext uri="{FF2B5EF4-FFF2-40B4-BE49-F238E27FC236}">
                <a16:creationId xmlns:a16="http://schemas.microsoft.com/office/drawing/2014/main" id="{4E10BA0C-F1B1-9992-35F5-375549A14E1B}"/>
              </a:ext>
            </a:extLst>
          </p:cNvPr>
          <p:cNvPicPr>
            <a:picLocks noChangeAspect="1"/>
          </p:cNvPicPr>
          <p:nvPr/>
        </p:nvPicPr>
        <p:blipFill>
          <a:blip r:embed="rId3"/>
          <a:stretch>
            <a:fillRect/>
          </a:stretch>
        </p:blipFill>
        <p:spPr>
          <a:xfrm>
            <a:off x="1" y="1802674"/>
            <a:ext cx="6833286" cy="5055326"/>
          </a:xfrm>
          <a:prstGeom prst="rect">
            <a:avLst/>
          </a:prstGeom>
        </p:spPr>
      </p:pic>
    </p:spTree>
    <p:extLst>
      <p:ext uri="{BB962C8B-B14F-4D97-AF65-F5344CB8AC3E}">
        <p14:creationId xmlns:p14="http://schemas.microsoft.com/office/powerpoint/2010/main" val="3003251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0" y="136525"/>
            <a:ext cx="11257004" cy="1362456"/>
          </a:xfrm>
        </p:spPr>
        <p:txBody>
          <a:bodyPr/>
          <a:lstStyle/>
          <a:p>
            <a:r>
              <a:rPr lang="en-US" dirty="0"/>
              <a:t>Frequency of migraine distribution</a:t>
            </a:r>
          </a:p>
        </p:txBody>
      </p:sp>
      <p:sp>
        <p:nvSpPr>
          <p:cNvPr id="6" name="Content Placeholder 5">
            <a:extLst>
              <a:ext uri="{FF2B5EF4-FFF2-40B4-BE49-F238E27FC236}">
                <a16:creationId xmlns:a16="http://schemas.microsoft.com/office/drawing/2014/main" id="{5A6B31B0-7B84-475D-961F-09C0191F91A2}"/>
              </a:ext>
            </a:extLst>
          </p:cNvPr>
          <p:cNvSpPr>
            <a:spLocks noGrp="1"/>
          </p:cNvSpPr>
          <p:nvPr>
            <p:ph sz="half" idx="14"/>
          </p:nvPr>
        </p:nvSpPr>
        <p:spPr>
          <a:xfrm>
            <a:off x="0" y="1762898"/>
            <a:ext cx="4176584" cy="3505200"/>
          </a:xfrm>
        </p:spPr>
        <p:txBody>
          <a:bodyPr vert="horz" lIns="91440" tIns="45720" rIns="91440" bIns="45720" rtlCol="0" anchor="t">
            <a:normAutofit/>
          </a:bodyPr>
          <a:lstStyle/>
          <a:p>
            <a:r>
              <a:rPr lang="en-US" dirty="0"/>
              <a:t>This chart again exhibits a right skewed distribution. This chart along with the last one shows that the overall prevalence of migraines tends to be mild in most cases</a:t>
            </a:r>
          </a:p>
        </p:txBody>
      </p:sp>
      <p:sp>
        <p:nvSpPr>
          <p:cNvPr id="7" name="Slide Number Placeholder 6">
            <a:extLst>
              <a:ext uri="{FF2B5EF4-FFF2-40B4-BE49-F238E27FC236}">
                <a16:creationId xmlns:a16="http://schemas.microsoft.com/office/drawing/2014/main" id="{08761B51-19E8-1412-3155-39DDEACA1818}"/>
              </a:ext>
            </a:extLst>
          </p:cNvPr>
          <p:cNvSpPr>
            <a:spLocks noGrp="1"/>
          </p:cNvSpPr>
          <p:nvPr>
            <p:ph type="sldNum" sz="quarter" idx="12"/>
          </p:nvPr>
        </p:nvSpPr>
        <p:spPr/>
        <p:txBody>
          <a:bodyPr/>
          <a:lstStyle/>
          <a:p>
            <a:fld id="{B5CEABB6-07DC-46E8-9B57-56EC44A396E5}" type="slidenum">
              <a:rPr lang="en-US" smtClean="0"/>
              <a:pPr/>
              <a:t>8</a:t>
            </a:fld>
            <a:endParaRPr lang="en-US" dirty="0"/>
          </a:p>
        </p:txBody>
      </p:sp>
      <p:pic>
        <p:nvPicPr>
          <p:cNvPr id="3" name="Picture 2">
            <a:extLst>
              <a:ext uri="{FF2B5EF4-FFF2-40B4-BE49-F238E27FC236}">
                <a16:creationId xmlns:a16="http://schemas.microsoft.com/office/drawing/2014/main" id="{6FE4C3AF-2599-9A46-2AC8-E09EF9E2ED27}"/>
              </a:ext>
            </a:extLst>
          </p:cNvPr>
          <p:cNvPicPr>
            <a:picLocks noChangeAspect="1"/>
          </p:cNvPicPr>
          <p:nvPr/>
        </p:nvPicPr>
        <p:blipFill>
          <a:blip r:embed="rId3"/>
          <a:stretch>
            <a:fillRect/>
          </a:stretch>
        </p:blipFill>
        <p:spPr>
          <a:xfrm>
            <a:off x="4284643" y="1725674"/>
            <a:ext cx="8008987" cy="5132326"/>
          </a:xfrm>
          <a:prstGeom prst="rect">
            <a:avLst/>
          </a:prstGeom>
        </p:spPr>
      </p:pic>
    </p:spTree>
    <p:extLst>
      <p:ext uri="{BB962C8B-B14F-4D97-AF65-F5344CB8AC3E}">
        <p14:creationId xmlns:p14="http://schemas.microsoft.com/office/powerpoint/2010/main" val="4151694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2854411" y="136525"/>
            <a:ext cx="8926500" cy="1006830"/>
          </a:xfrm>
        </p:spPr>
        <p:txBody>
          <a:bodyPr/>
          <a:lstStyle/>
          <a:p>
            <a:r>
              <a:rPr lang="en-US" dirty="0"/>
              <a:t>Intensity Distribution</a:t>
            </a:r>
          </a:p>
        </p:txBody>
      </p:sp>
      <p:sp>
        <p:nvSpPr>
          <p:cNvPr id="12" name="Text Placeholder 11">
            <a:extLst>
              <a:ext uri="{FF2B5EF4-FFF2-40B4-BE49-F238E27FC236}">
                <a16:creationId xmlns:a16="http://schemas.microsoft.com/office/drawing/2014/main" id="{D3251268-42B4-3B45-A59B-740E2DB97A00}"/>
              </a:ext>
            </a:extLst>
          </p:cNvPr>
          <p:cNvSpPr>
            <a:spLocks noGrp="1"/>
          </p:cNvSpPr>
          <p:nvPr>
            <p:ph sz="half" idx="14"/>
          </p:nvPr>
        </p:nvSpPr>
        <p:spPr>
          <a:xfrm>
            <a:off x="7197811" y="2267220"/>
            <a:ext cx="3751509" cy="3302520"/>
          </a:xfrm>
        </p:spPr>
        <p:txBody>
          <a:bodyPr>
            <a:normAutofit/>
          </a:bodyPr>
          <a:lstStyle/>
          <a:p>
            <a:pPr marL="0" indent="0">
              <a:buNone/>
            </a:pPr>
            <a:r>
              <a:rPr lang="en-US" dirty="0"/>
              <a:t>This Intensity Distribution chart shows a left skewed data showing that while the frequency and duration of migraines tend to be low the pain caused by migraines is incredibly high </a:t>
            </a:r>
          </a:p>
        </p:txBody>
      </p:sp>
      <p:sp>
        <p:nvSpPr>
          <p:cNvPr id="14" name="Slide Number Placeholder 13">
            <a:extLst>
              <a:ext uri="{FF2B5EF4-FFF2-40B4-BE49-F238E27FC236}">
                <a16:creationId xmlns:a16="http://schemas.microsoft.com/office/drawing/2014/main" id="{F3DE1AA4-0AE6-C6D5-E252-BBD5ED259E32}"/>
              </a:ext>
            </a:extLst>
          </p:cNvPr>
          <p:cNvSpPr>
            <a:spLocks noGrp="1"/>
          </p:cNvSpPr>
          <p:nvPr>
            <p:ph type="sldNum" sz="quarter" idx="12"/>
          </p:nvPr>
        </p:nvSpPr>
        <p:spPr/>
        <p:txBody>
          <a:bodyPr/>
          <a:lstStyle/>
          <a:p>
            <a:fld id="{B5CEABB6-07DC-46E8-9B57-56EC44A396E5}" type="slidenum">
              <a:rPr lang="en-US" smtClean="0"/>
              <a:pPr/>
              <a:t>9</a:t>
            </a:fld>
            <a:endParaRPr lang="en-US" dirty="0"/>
          </a:p>
        </p:txBody>
      </p:sp>
      <p:pic>
        <p:nvPicPr>
          <p:cNvPr id="6" name="Content Placeholder 5">
            <a:extLst>
              <a:ext uri="{FF2B5EF4-FFF2-40B4-BE49-F238E27FC236}">
                <a16:creationId xmlns:a16="http://schemas.microsoft.com/office/drawing/2014/main" id="{4AB9C3DA-3A4A-BEC9-B116-E5673DCB07D2}"/>
              </a:ext>
            </a:extLst>
          </p:cNvPr>
          <p:cNvPicPr>
            <a:picLocks noGrp="1" noChangeAspect="1"/>
          </p:cNvPicPr>
          <p:nvPr>
            <p:ph sz="half" idx="1"/>
          </p:nvPr>
        </p:nvPicPr>
        <p:blipFill>
          <a:blip r:embed="rId3"/>
          <a:stretch>
            <a:fillRect/>
          </a:stretch>
        </p:blipFill>
        <p:spPr>
          <a:xfrm>
            <a:off x="-123567" y="2267819"/>
            <a:ext cx="6905581" cy="4590181"/>
          </a:xfrm>
        </p:spPr>
      </p:pic>
    </p:spTree>
    <p:extLst>
      <p:ext uri="{BB962C8B-B14F-4D97-AF65-F5344CB8AC3E}">
        <p14:creationId xmlns:p14="http://schemas.microsoft.com/office/powerpoint/2010/main" val="1418789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0C883-7528-F9C5-D6FA-15EC059A3021}"/>
              </a:ext>
            </a:extLst>
          </p:cNvPr>
          <p:cNvSpPr>
            <a:spLocks noGrp="1"/>
          </p:cNvSpPr>
          <p:nvPr>
            <p:ph type="title"/>
          </p:nvPr>
        </p:nvSpPr>
        <p:spPr>
          <a:xfrm>
            <a:off x="762000" y="896112"/>
            <a:ext cx="10668000" cy="1325563"/>
          </a:xfrm>
        </p:spPr>
        <p:txBody>
          <a:bodyPr/>
          <a:lstStyle/>
          <a:p>
            <a:r>
              <a:rPr lang="en-US" dirty="0"/>
              <a:t>Distribution of migraine types​</a:t>
            </a:r>
          </a:p>
        </p:txBody>
      </p:sp>
      <p:sp>
        <p:nvSpPr>
          <p:cNvPr id="6" name="Text Placeholder 5">
            <a:extLst>
              <a:ext uri="{FF2B5EF4-FFF2-40B4-BE49-F238E27FC236}">
                <a16:creationId xmlns:a16="http://schemas.microsoft.com/office/drawing/2014/main" id="{3A7E69BA-FC91-08A5-671F-B53E6E989C6F}"/>
              </a:ext>
            </a:extLst>
          </p:cNvPr>
          <p:cNvSpPr>
            <a:spLocks noGrp="1"/>
          </p:cNvSpPr>
          <p:nvPr>
            <p:ph type="body" sz="quarter" idx="13"/>
          </p:nvPr>
        </p:nvSpPr>
        <p:spPr>
          <a:xfrm>
            <a:off x="98854" y="1717589"/>
            <a:ext cx="3798089" cy="4437149"/>
          </a:xfrm>
        </p:spPr>
        <p:txBody>
          <a:bodyPr/>
          <a:lstStyle/>
          <a:p>
            <a:pPr marL="0" indent="0">
              <a:buNone/>
            </a:pPr>
            <a:r>
              <a:rPr lang="en-US" dirty="0"/>
              <a:t>This chart show the frequency of each type of migraine diagnosis within the dataset showing that the most common diagnoses are moderately severe. </a:t>
            </a:r>
          </a:p>
          <a:p>
            <a:pPr marL="0" indent="0">
              <a:buNone/>
            </a:pPr>
            <a:r>
              <a:rPr lang="en-US" dirty="0"/>
              <a:t>The Sporadic hemiplegic migraines and the Basilar-type migraines are the most severe followed by typical aura with migraine and migraine without aura. Finally, the least severe type is a typical aura without migraine. </a:t>
            </a:r>
          </a:p>
        </p:txBody>
      </p:sp>
      <p:sp>
        <p:nvSpPr>
          <p:cNvPr id="3" name="Slide Number Placeholder 2">
            <a:extLst>
              <a:ext uri="{FF2B5EF4-FFF2-40B4-BE49-F238E27FC236}">
                <a16:creationId xmlns:a16="http://schemas.microsoft.com/office/drawing/2014/main" id="{8D3FE259-B742-148B-88EA-EAE84226FE5A}"/>
              </a:ext>
            </a:extLst>
          </p:cNvPr>
          <p:cNvSpPr>
            <a:spLocks noGrp="1"/>
          </p:cNvSpPr>
          <p:nvPr>
            <p:ph type="sldNum" sz="quarter" idx="12"/>
          </p:nvPr>
        </p:nvSpPr>
        <p:spPr/>
        <p:txBody>
          <a:bodyPr/>
          <a:lstStyle/>
          <a:p>
            <a:fld id="{B5CEABB6-07DC-46E8-9B57-56EC44A396E5}" type="slidenum">
              <a:rPr lang="en-US" smtClean="0"/>
              <a:pPr/>
              <a:t>10</a:t>
            </a:fld>
            <a:endParaRPr lang="en-US" dirty="0"/>
          </a:p>
        </p:txBody>
      </p:sp>
      <p:pic>
        <p:nvPicPr>
          <p:cNvPr id="9" name="Picture 8">
            <a:extLst>
              <a:ext uri="{FF2B5EF4-FFF2-40B4-BE49-F238E27FC236}">
                <a16:creationId xmlns:a16="http://schemas.microsoft.com/office/drawing/2014/main" id="{D709CE8F-3F8C-6CAE-E3C8-1D360472182B}"/>
              </a:ext>
            </a:extLst>
          </p:cNvPr>
          <p:cNvPicPr>
            <a:picLocks noChangeAspect="1"/>
          </p:cNvPicPr>
          <p:nvPr/>
        </p:nvPicPr>
        <p:blipFill>
          <a:blip r:embed="rId3"/>
          <a:stretch>
            <a:fillRect/>
          </a:stretch>
        </p:blipFill>
        <p:spPr>
          <a:xfrm>
            <a:off x="3896943" y="2545492"/>
            <a:ext cx="8295057" cy="4312508"/>
          </a:xfrm>
          <a:prstGeom prst="rect">
            <a:avLst/>
          </a:prstGeom>
        </p:spPr>
      </p:pic>
    </p:spTree>
    <p:extLst>
      <p:ext uri="{BB962C8B-B14F-4D97-AF65-F5344CB8AC3E}">
        <p14:creationId xmlns:p14="http://schemas.microsoft.com/office/powerpoint/2010/main" val="2390678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864623" y="136525"/>
            <a:ext cx="10327377" cy="2029967"/>
          </a:xfrm>
        </p:spPr>
        <p:txBody>
          <a:bodyPr/>
          <a:lstStyle/>
          <a:p>
            <a:r>
              <a:rPr lang="en-US" dirty="0"/>
              <a:t>Reported Symptom Frequency</a:t>
            </a:r>
          </a:p>
        </p:txBody>
      </p:sp>
      <p:sp>
        <p:nvSpPr>
          <p:cNvPr id="8" name="Text Placeholder 7">
            <a:extLst>
              <a:ext uri="{FF2B5EF4-FFF2-40B4-BE49-F238E27FC236}">
                <a16:creationId xmlns:a16="http://schemas.microsoft.com/office/drawing/2014/main" id="{87441910-6501-5C60-C05A-BAFF34C25798}"/>
              </a:ext>
            </a:extLst>
          </p:cNvPr>
          <p:cNvSpPr>
            <a:spLocks noGrp="1"/>
          </p:cNvSpPr>
          <p:nvPr>
            <p:ph sz="half" idx="16"/>
          </p:nvPr>
        </p:nvSpPr>
        <p:spPr>
          <a:xfrm>
            <a:off x="2192649" y="2181178"/>
            <a:ext cx="4435483" cy="2978150"/>
          </a:xfrm>
        </p:spPr>
        <p:txBody>
          <a:bodyPr>
            <a:normAutofit/>
          </a:bodyPr>
          <a:lstStyle/>
          <a:p>
            <a:pPr marL="0" indent="0">
              <a:buNone/>
            </a:pPr>
            <a:r>
              <a:rPr lang="en-US" dirty="0"/>
              <a:t>This chart shows which symptoms are common among all migraines. Further breakdown of common symptoms by each migraine type is warranted to start to show correlation between the data and the specific migraine diagnosis</a:t>
            </a:r>
          </a:p>
        </p:txBody>
      </p:sp>
      <p:sp>
        <p:nvSpPr>
          <p:cNvPr id="64" name="Oval 63">
            <a:extLst>
              <a:ext uri="{FF2B5EF4-FFF2-40B4-BE49-F238E27FC236}">
                <a16:creationId xmlns:a16="http://schemas.microsoft.com/office/drawing/2014/main" id="{1C668341-39BE-4448-B29D-2594AE6D75C2}"/>
              </a:ext>
              <a:ext uri="{C183D7F6-B498-43B3-948B-1728B52AA6E4}">
                <adec:decorative xmlns:adec="http://schemas.microsoft.com/office/drawing/2017/decorative" val="1"/>
              </a:ext>
            </a:extLst>
          </p:cNvPr>
          <p:cNvSpPr/>
          <p:nvPr/>
        </p:nvSpPr>
        <p:spPr>
          <a:xfrm>
            <a:off x="1901853" y="2682814"/>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Connector 16">
            <a:extLst>
              <a:ext uri="{FF2B5EF4-FFF2-40B4-BE49-F238E27FC236}">
                <a16:creationId xmlns:a16="http://schemas.microsoft.com/office/drawing/2014/main" id="{B31C374B-40F2-4B1E-A9D8-6E5C932FF170}"/>
              </a:ext>
              <a:ext uri="{C183D7F6-B498-43B3-948B-1728B52AA6E4}">
                <adec:decorative xmlns:adec="http://schemas.microsoft.com/office/drawing/2017/decorative" val="1"/>
              </a:ext>
            </a:extLst>
          </p:cNvPr>
          <p:cNvCxnSpPr>
            <a:cxnSpLocks/>
          </p:cNvCxnSpPr>
          <p:nvPr/>
        </p:nvCxnSpPr>
        <p:spPr>
          <a:xfrm flipV="1">
            <a:off x="0" y="2824876"/>
            <a:ext cx="2011680"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30" name="Slide Number Placeholder 29">
            <a:extLst>
              <a:ext uri="{FF2B5EF4-FFF2-40B4-BE49-F238E27FC236}">
                <a16:creationId xmlns:a16="http://schemas.microsoft.com/office/drawing/2014/main" id="{32C7587B-DD64-0940-2F6D-21C5F453FAB1}"/>
              </a:ext>
            </a:extLst>
          </p:cNvPr>
          <p:cNvSpPr>
            <a:spLocks noGrp="1"/>
          </p:cNvSpPr>
          <p:nvPr>
            <p:ph type="sldNum" sz="quarter" idx="12"/>
          </p:nvPr>
        </p:nvSpPr>
        <p:spPr/>
        <p:txBody>
          <a:bodyPr/>
          <a:lstStyle/>
          <a:p>
            <a:fld id="{B5CEABB6-07DC-46E8-9B57-56EC44A396E5}" type="slidenum">
              <a:rPr lang="en-US" smtClean="0"/>
              <a:pPr/>
              <a:t>11</a:t>
            </a:fld>
            <a:endParaRPr lang="en-US" dirty="0"/>
          </a:p>
        </p:txBody>
      </p:sp>
      <p:pic>
        <p:nvPicPr>
          <p:cNvPr id="6" name="Picture 5">
            <a:extLst>
              <a:ext uri="{FF2B5EF4-FFF2-40B4-BE49-F238E27FC236}">
                <a16:creationId xmlns:a16="http://schemas.microsoft.com/office/drawing/2014/main" id="{AEB54DFB-5BBF-FE2C-20D6-30FAE3F36425}"/>
              </a:ext>
            </a:extLst>
          </p:cNvPr>
          <p:cNvPicPr>
            <a:picLocks noChangeAspect="1"/>
          </p:cNvPicPr>
          <p:nvPr/>
        </p:nvPicPr>
        <p:blipFill>
          <a:blip r:embed="rId3"/>
          <a:stretch>
            <a:fillRect/>
          </a:stretch>
        </p:blipFill>
        <p:spPr>
          <a:xfrm>
            <a:off x="6887098" y="866775"/>
            <a:ext cx="5451243" cy="5991225"/>
          </a:xfrm>
          <a:prstGeom prst="rect">
            <a:avLst/>
          </a:prstGeom>
        </p:spPr>
      </p:pic>
    </p:spTree>
    <p:extLst>
      <p:ext uri="{BB962C8B-B14F-4D97-AF65-F5344CB8AC3E}">
        <p14:creationId xmlns:p14="http://schemas.microsoft.com/office/powerpoint/2010/main" val="1593920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5FB75C3E-5885-49DD-8190-BB1E8C511A7E}"/>
              </a:ext>
            </a:extLst>
          </p:cNvPr>
          <p:cNvSpPr>
            <a:spLocks noGrp="1"/>
          </p:cNvSpPr>
          <p:nvPr>
            <p:ph type="title"/>
          </p:nvPr>
        </p:nvSpPr>
        <p:spPr>
          <a:xfrm>
            <a:off x="4670854" y="0"/>
            <a:ext cx="7521146" cy="1494665"/>
          </a:xfrm>
        </p:spPr>
        <p:txBody>
          <a:bodyPr>
            <a:normAutofit/>
          </a:bodyPr>
          <a:lstStyle/>
          <a:p>
            <a:r>
              <a:rPr lang="en-US" dirty="0"/>
              <a:t>Symptom occurrence by migraine type​</a:t>
            </a:r>
          </a:p>
        </p:txBody>
      </p:sp>
      <p:sp>
        <p:nvSpPr>
          <p:cNvPr id="7" name="Text Placeholder 6">
            <a:extLst>
              <a:ext uri="{FF2B5EF4-FFF2-40B4-BE49-F238E27FC236}">
                <a16:creationId xmlns:a16="http://schemas.microsoft.com/office/drawing/2014/main" id="{3FF2D739-E475-54F8-C832-F04A983D0F24}"/>
              </a:ext>
            </a:extLst>
          </p:cNvPr>
          <p:cNvSpPr>
            <a:spLocks noGrp="1"/>
          </p:cNvSpPr>
          <p:nvPr>
            <p:ph sz="half" idx="15"/>
          </p:nvPr>
        </p:nvSpPr>
        <p:spPr>
          <a:xfrm>
            <a:off x="8662086" y="1144358"/>
            <a:ext cx="3361038" cy="5713642"/>
          </a:xfrm>
        </p:spPr>
        <p:txBody>
          <a:bodyPr>
            <a:normAutofit/>
          </a:bodyPr>
          <a:lstStyle/>
          <a:p>
            <a:r>
              <a:rPr lang="en-US" dirty="0"/>
              <a:t>This chart shows a normalized perspective on all symptoms broken down by migraine type. Key insights can be made.</a:t>
            </a:r>
          </a:p>
          <a:p>
            <a:r>
              <a:rPr lang="en-US" dirty="0"/>
              <a:t>Basilar migraines will have Hypoacusis, Diplopia, Defect and Paresthesia 100% of the time.</a:t>
            </a:r>
          </a:p>
          <a:p>
            <a:r>
              <a:rPr lang="en-US" dirty="0"/>
              <a:t>Sporadic hemiplegic migraines have Dysarthria 100% of the time.</a:t>
            </a:r>
          </a:p>
          <a:p>
            <a:r>
              <a:rPr lang="en-US" dirty="0"/>
              <a:t>Typical migraines are most likely to have Nasua, vomiting and visual / sensory impairment.</a:t>
            </a:r>
          </a:p>
          <a:p>
            <a:endParaRPr lang="en-US" dirty="0"/>
          </a:p>
          <a:p>
            <a:endParaRPr lang="en-US" dirty="0"/>
          </a:p>
        </p:txBody>
      </p:sp>
      <p:sp>
        <p:nvSpPr>
          <p:cNvPr id="13" name="Slide Number Placeholder 12">
            <a:extLst>
              <a:ext uri="{FF2B5EF4-FFF2-40B4-BE49-F238E27FC236}">
                <a16:creationId xmlns:a16="http://schemas.microsoft.com/office/drawing/2014/main" id="{A540B739-30F9-C86F-67ED-2197DC1E598B}"/>
              </a:ext>
            </a:extLst>
          </p:cNvPr>
          <p:cNvSpPr>
            <a:spLocks noGrp="1"/>
          </p:cNvSpPr>
          <p:nvPr>
            <p:ph type="sldNum" sz="quarter" idx="12"/>
          </p:nvPr>
        </p:nvSpPr>
        <p:spPr>
          <a:xfrm>
            <a:off x="11123295" y="6356350"/>
            <a:ext cx="457200" cy="365125"/>
          </a:xfrm>
        </p:spPr>
        <p:txBody>
          <a:bodyPr/>
          <a:lstStyle/>
          <a:p>
            <a:fld id="{B5CEABB6-07DC-46E8-9B57-56EC44A396E5}" type="slidenum">
              <a:rPr lang="en-US" smtClean="0"/>
              <a:pPr/>
              <a:t>12</a:t>
            </a:fld>
            <a:endParaRPr lang="en-US" dirty="0"/>
          </a:p>
        </p:txBody>
      </p:sp>
      <p:pic>
        <p:nvPicPr>
          <p:cNvPr id="5" name="Picture 4">
            <a:extLst>
              <a:ext uri="{FF2B5EF4-FFF2-40B4-BE49-F238E27FC236}">
                <a16:creationId xmlns:a16="http://schemas.microsoft.com/office/drawing/2014/main" id="{36EFF19B-599F-832D-1A76-E7D859EB8104}"/>
              </a:ext>
            </a:extLst>
          </p:cNvPr>
          <p:cNvPicPr>
            <a:picLocks noChangeAspect="1"/>
          </p:cNvPicPr>
          <p:nvPr/>
        </p:nvPicPr>
        <p:blipFill>
          <a:blip r:embed="rId3"/>
          <a:stretch>
            <a:fillRect/>
          </a:stretch>
        </p:blipFill>
        <p:spPr>
          <a:xfrm>
            <a:off x="0" y="1144358"/>
            <a:ext cx="8662086" cy="5713642"/>
          </a:xfrm>
          <a:prstGeom prst="rect">
            <a:avLst/>
          </a:prstGeom>
        </p:spPr>
      </p:pic>
    </p:spTree>
    <p:extLst>
      <p:ext uri="{BB962C8B-B14F-4D97-AF65-F5344CB8AC3E}">
        <p14:creationId xmlns:p14="http://schemas.microsoft.com/office/powerpoint/2010/main" val="4252466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1B29E87-9C2C-400B-834D-4E4BD6E944D0}"/>
              </a:ext>
            </a:extLst>
          </p:cNvPr>
          <p:cNvSpPr>
            <a:spLocks noGrp="1"/>
          </p:cNvSpPr>
          <p:nvPr>
            <p:ph type="title"/>
          </p:nvPr>
        </p:nvSpPr>
        <p:spPr>
          <a:xfrm>
            <a:off x="0" y="0"/>
            <a:ext cx="12192000" cy="1325563"/>
          </a:xfrm>
        </p:spPr>
        <p:txBody>
          <a:bodyPr/>
          <a:lstStyle/>
          <a:p>
            <a:r>
              <a:rPr lang="en-US" dirty="0"/>
              <a:t>Age vs intensity by migraine type scatter plot​</a:t>
            </a:r>
          </a:p>
        </p:txBody>
      </p:sp>
      <p:sp>
        <p:nvSpPr>
          <p:cNvPr id="2" name="Slide Number Placeholder 1">
            <a:extLst>
              <a:ext uri="{FF2B5EF4-FFF2-40B4-BE49-F238E27FC236}">
                <a16:creationId xmlns:a16="http://schemas.microsoft.com/office/drawing/2014/main" id="{660EB401-2F91-2D90-C859-96484861E564}"/>
              </a:ext>
            </a:extLst>
          </p:cNvPr>
          <p:cNvSpPr>
            <a:spLocks noGrp="1"/>
          </p:cNvSpPr>
          <p:nvPr>
            <p:ph type="sldNum" sz="quarter" idx="12"/>
          </p:nvPr>
        </p:nvSpPr>
        <p:spPr/>
        <p:txBody>
          <a:bodyPr/>
          <a:lstStyle/>
          <a:p>
            <a:fld id="{B5CEABB6-07DC-46E8-9B57-56EC44A396E5}" type="slidenum">
              <a:rPr lang="en-US" smtClean="0"/>
              <a:pPr/>
              <a:t>13</a:t>
            </a:fld>
            <a:endParaRPr lang="en-US" dirty="0"/>
          </a:p>
        </p:txBody>
      </p:sp>
      <p:pic>
        <p:nvPicPr>
          <p:cNvPr id="6" name="Picture 5">
            <a:extLst>
              <a:ext uri="{FF2B5EF4-FFF2-40B4-BE49-F238E27FC236}">
                <a16:creationId xmlns:a16="http://schemas.microsoft.com/office/drawing/2014/main" id="{C146F6DA-53ED-49AF-7459-455E338EB85C}"/>
              </a:ext>
            </a:extLst>
          </p:cNvPr>
          <p:cNvPicPr>
            <a:picLocks noChangeAspect="1"/>
          </p:cNvPicPr>
          <p:nvPr/>
        </p:nvPicPr>
        <p:blipFill>
          <a:blip r:embed="rId3"/>
          <a:stretch>
            <a:fillRect/>
          </a:stretch>
        </p:blipFill>
        <p:spPr>
          <a:xfrm>
            <a:off x="4361935" y="859903"/>
            <a:ext cx="7830065" cy="5962108"/>
          </a:xfrm>
          <a:prstGeom prst="rect">
            <a:avLst/>
          </a:prstGeom>
        </p:spPr>
      </p:pic>
      <p:sp>
        <p:nvSpPr>
          <p:cNvPr id="7" name="TextBox 6">
            <a:extLst>
              <a:ext uri="{FF2B5EF4-FFF2-40B4-BE49-F238E27FC236}">
                <a16:creationId xmlns:a16="http://schemas.microsoft.com/office/drawing/2014/main" id="{24ACBF27-9428-2CD1-3C13-CDD4433CCC70}"/>
              </a:ext>
            </a:extLst>
          </p:cNvPr>
          <p:cNvSpPr txBox="1"/>
          <p:nvPr/>
        </p:nvSpPr>
        <p:spPr>
          <a:xfrm>
            <a:off x="172995" y="1637270"/>
            <a:ext cx="4015946" cy="3970318"/>
          </a:xfrm>
          <a:prstGeom prst="rect">
            <a:avLst/>
          </a:prstGeom>
          <a:noFill/>
        </p:spPr>
        <p:txBody>
          <a:bodyPr wrap="square" rtlCol="0">
            <a:spAutoFit/>
          </a:bodyPr>
          <a:lstStyle/>
          <a:p>
            <a:r>
              <a:rPr lang="en-US" dirty="0"/>
              <a:t>This scatterplot shows two key insights.</a:t>
            </a:r>
          </a:p>
          <a:p>
            <a:endParaRPr lang="en-US" dirty="0"/>
          </a:p>
          <a:p>
            <a:r>
              <a:rPr lang="en-US" dirty="0"/>
              <a:t>First, the more severe types of migraines will be much more intense.</a:t>
            </a:r>
          </a:p>
          <a:p>
            <a:endParaRPr lang="en-US" dirty="0"/>
          </a:p>
          <a:p>
            <a:r>
              <a:rPr lang="en-US" dirty="0"/>
              <a:t>Second, older patients are much more likely to be diagnosis with a severe form of migraine and thus have a higher pain intensity. For instance, those over 50 will have a severe diagnosis type 100% of the time in this dataset.</a:t>
            </a:r>
          </a:p>
        </p:txBody>
      </p:sp>
    </p:spTree>
    <p:extLst>
      <p:ext uri="{BB962C8B-B14F-4D97-AF65-F5344CB8AC3E}">
        <p14:creationId xmlns:p14="http://schemas.microsoft.com/office/powerpoint/2010/main" val="566997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0AFC3-B9D4-4FBC-58B4-F27F92A282F7}"/>
              </a:ext>
            </a:extLst>
          </p:cNvPr>
          <p:cNvSpPr>
            <a:spLocks noGrp="1"/>
          </p:cNvSpPr>
          <p:nvPr>
            <p:ph type="title"/>
          </p:nvPr>
        </p:nvSpPr>
        <p:spPr>
          <a:xfrm>
            <a:off x="2743198" y="136525"/>
            <a:ext cx="9279925" cy="895619"/>
          </a:xfrm>
        </p:spPr>
        <p:txBody>
          <a:bodyPr>
            <a:normAutofit fontScale="90000"/>
          </a:bodyPr>
          <a:lstStyle/>
          <a:p>
            <a:r>
              <a:rPr lang="en-US" dirty="0"/>
              <a:t>Standardized age By migraine type</a:t>
            </a:r>
          </a:p>
        </p:txBody>
      </p:sp>
      <p:sp>
        <p:nvSpPr>
          <p:cNvPr id="4" name="Content Placeholder 3">
            <a:extLst>
              <a:ext uri="{FF2B5EF4-FFF2-40B4-BE49-F238E27FC236}">
                <a16:creationId xmlns:a16="http://schemas.microsoft.com/office/drawing/2014/main" id="{6DAE93CE-F1B9-AE60-EE47-75EAFAA664A4}"/>
              </a:ext>
            </a:extLst>
          </p:cNvPr>
          <p:cNvSpPr>
            <a:spLocks noGrp="1"/>
          </p:cNvSpPr>
          <p:nvPr>
            <p:ph sz="half" idx="1"/>
          </p:nvPr>
        </p:nvSpPr>
        <p:spPr>
          <a:xfrm>
            <a:off x="7383160" y="1619157"/>
            <a:ext cx="4580088" cy="4448011"/>
          </a:xfrm>
        </p:spPr>
        <p:txBody>
          <a:bodyPr>
            <a:normAutofit/>
          </a:bodyPr>
          <a:lstStyle/>
          <a:p>
            <a:r>
              <a:rPr lang="en-US" dirty="0"/>
              <a:t>This chart shows the distribution of the age of each migraine type. </a:t>
            </a:r>
          </a:p>
          <a:p>
            <a:endParaRPr lang="en-US" dirty="0"/>
          </a:p>
          <a:p>
            <a:r>
              <a:rPr lang="en-US" dirty="0"/>
              <a:t>Quick tip on standardized values:</a:t>
            </a:r>
          </a:p>
          <a:p>
            <a:r>
              <a:rPr lang="en-US" dirty="0"/>
              <a:t>The closer a value is to 0 the closer it is to the global age average for this dataset. Negative numbers are below the dataset average and positive numbers are above the average. Each number represents one standard deviation.</a:t>
            </a:r>
          </a:p>
        </p:txBody>
      </p:sp>
      <p:sp>
        <p:nvSpPr>
          <p:cNvPr id="5" name="Slide Number Placeholder 4">
            <a:extLst>
              <a:ext uri="{FF2B5EF4-FFF2-40B4-BE49-F238E27FC236}">
                <a16:creationId xmlns:a16="http://schemas.microsoft.com/office/drawing/2014/main" id="{0D4DB4A6-C1B8-9E84-142A-009D475E17CF}"/>
              </a:ext>
            </a:extLst>
          </p:cNvPr>
          <p:cNvSpPr>
            <a:spLocks noGrp="1"/>
          </p:cNvSpPr>
          <p:nvPr>
            <p:ph type="sldNum" sz="quarter" idx="12"/>
          </p:nvPr>
        </p:nvSpPr>
        <p:spPr/>
        <p:txBody>
          <a:bodyPr/>
          <a:lstStyle/>
          <a:p>
            <a:fld id="{B5CEABB6-07DC-46E8-9B57-56EC44A396E5}" type="slidenum">
              <a:rPr lang="en-US" smtClean="0"/>
              <a:pPr/>
              <a:t>14</a:t>
            </a:fld>
            <a:endParaRPr lang="en-US" dirty="0"/>
          </a:p>
        </p:txBody>
      </p:sp>
      <p:pic>
        <p:nvPicPr>
          <p:cNvPr id="7" name="Picture 6">
            <a:extLst>
              <a:ext uri="{FF2B5EF4-FFF2-40B4-BE49-F238E27FC236}">
                <a16:creationId xmlns:a16="http://schemas.microsoft.com/office/drawing/2014/main" id="{BB15AFC8-A2B5-7930-DB40-2F04489F5D26}"/>
              </a:ext>
            </a:extLst>
          </p:cNvPr>
          <p:cNvPicPr>
            <a:picLocks noChangeAspect="1"/>
          </p:cNvPicPr>
          <p:nvPr/>
        </p:nvPicPr>
        <p:blipFill>
          <a:blip r:embed="rId2"/>
          <a:stretch>
            <a:fillRect/>
          </a:stretch>
        </p:blipFill>
        <p:spPr>
          <a:xfrm>
            <a:off x="0" y="1619157"/>
            <a:ext cx="6988894" cy="4237946"/>
          </a:xfrm>
          <a:prstGeom prst="rect">
            <a:avLst/>
          </a:prstGeom>
        </p:spPr>
      </p:pic>
    </p:spTree>
    <p:extLst>
      <p:ext uri="{BB962C8B-B14F-4D97-AF65-F5344CB8AC3E}">
        <p14:creationId xmlns:p14="http://schemas.microsoft.com/office/powerpoint/2010/main" val="1519135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62E85-E98B-E93F-695B-CA2E6BC09B17}"/>
              </a:ext>
            </a:extLst>
          </p:cNvPr>
          <p:cNvSpPr>
            <a:spLocks noGrp="1"/>
          </p:cNvSpPr>
          <p:nvPr>
            <p:ph type="title"/>
          </p:nvPr>
        </p:nvSpPr>
        <p:spPr/>
        <p:txBody>
          <a:bodyPr/>
          <a:lstStyle/>
          <a:p>
            <a:r>
              <a:rPr lang="en-US" dirty="0"/>
              <a:t>Standardized duration by migraine type</a:t>
            </a:r>
          </a:p>
        </p:txBody>
      </p:sp>
      <p:sp>
        <p:nvSpPr>
          <p:cNvPr id="3" name="Content Placeholder 2">
            <a:extLst>
              <a:ext uri="{FF2B5EF4-FFF2-40B4-BE49-F238E27FC236}">
                <a16:creationId xmlns:a16="http://schemas.microsoft.com/office/drawing/2014/main" id="{AB550D77-55F8-05B1-5B1E-2EDAF0954BCC}"/>
              </a:ext>
            </a:extLst>
          </p:cNvPr>
          <p:cNvSpPr>
            <a:spLocks noGrp="1"/>
          </p:cNvSpPr>
          <p:nvPr>
            <p:ph sz="half" idx="14"/>
          </p:nvPr>
        </p:nvSpPr>
        <p:spPr/>
        <p:txBody>
          <a:bodyPr/>
          <a:lstStyle/>
          <a:p>
            <a:endParaRPr lang="en-US"/>
          </a:p>
        </p:txBody>
      </p:sp>
      <p:sp>
        <p:nvSpPr>
          <p:cNvPr id="4" name="Content Placeholder 3">
            <a:extLst>
              <a:ext uri="{FF2B5EF4-FFF2-40B4-BE49-F238E27FC236}">
                <a16:creationId xmlns:a16="http://schemas.microsoft.com/office/drawing/2014/main" id="{091D73DE-7834-EFF2-34B4-02B09E034526}"/>
              </a:ext>
            </a:extLst>
          </p:cNvPr>
          <p:cNvSpPr>
            <a:spLocks noGrp="1"/>
          </p:cNvSpPr>
          <p:nvPr>
            <p:ph sz="half" idx="1"/>
          </p:nvPr>
        </p:nvSpPr>
        <p:spPr>
          <a:xfrm>
            <a:off x="7234205" y="2419283"/>
            <a:ext cx="4580088" cy="3006531"/>
          </a:xfrm>
        </p:spPr>
        <p:txBody>
          <a:bodyPr/>
          <a:lstStyle/>
          <a:p>
            <a:r>
              <a:rPr lang="en-US" dirty="0"/>
              <a:t>This violin plot shows the distribution of duration across each migraine type.</a:t>
            </a:r>
          </a:p>
          <a:p>
            <a:endParaRPr lang="en-US" dirty="0"/>
          </a:p>
          <a:p>
            <a:r>
              <a:rPr lang="en-US" dirty="0"/>
              <a:t>Basilar-type aura migraines are the longest lasting on average across all types.</a:t>
            </a:r>
          </a:p>
        </p:txBody>
      </p:sp>
      <p:sp>
        <p:nvSpPr>
          <p:cNvPr id="5" name="Slide Number Placeholder 4">
            <a:extLst>
              <a:ext uri="{FF2B5EF4-FFF2-40B4-BE49-F238E27FC236}">
                <a16:creationId xmlns:a16="http://schemas.microsoft.com/office/drawing/2014/main" id="{69687B2E-4ED6-F71F-492C-6537AEBA03B7}"/>
              </a:ext>
            </a:extLst>
          </p:cNvPr>
          <p:cNvSpPr>
            <a:spLocks noGrp="1"/>
          </p:cNvSpPr>
          <p:nvPr>
            <p:ph type="sldNum" sz="quarter" idx="12"/>
          </p:nvPr>
        </p:nvSpPr>
        <p:spPr/>
        <p:txBody>
          <a:bodyPr/>
          <a:lstStyle/>
          <a:p>
            <a:fld id="{B5CEABB6-07DC-46E8-9B57-56EC44A396E5}" type="slidenum">
              <a:rPr lang="en-US" smtClean="0"/>
              <a:pPr/>
              <a:t>15</a:t>
            </a:fld>
            <a:endParaRPr lang="en-US" dirty="0"/>
          </a:p>
        </p:txBody>
      </p:sp>
      <p:pic>
        <p:nvPicPr>
          <p:cNvPr id="7" name="Picture 6">
            <a:extLst>
              <a:ext uri="{FF2B5EF4-FFF2-40B4-BE49-F238E27FC236}">
                <a16:creationId xmlns:a16="http://schemas.microsoft.com/office/drawing/2014/main" id="{D0CB8D36-D1BC-16A9-23D1-6E4E855C9A97}"/>
              </a:ext>
            </a:extLst>
          </p:cNvPr>
          <p:cNvPicPr>
            <a:picLocks noChangeAspect="1"/>
          </p:cNvPicPr>
          <p:nvPr/>
        </p:nvPicPr>
        <p:blipFill>
          <a:blip r:embed="rId2"/>
          <a:stretch>
            <a:fillRect/>
          </a:stretch>
        </p:blipFill>
        <p:spPr>
          <a:xfrm>
            <a:off x="-1" y="2100005"/>
            <a:ext cx="7095647" cy="4160266"/>
          </a:xfrm>
          <a:prstGeom prst="rect">
            <a:avLst/>
          </a:prstGeom>
        </p:spPr>
      </p:pic>
    </p:spTree>
    <p:extLst>
      <p:ext uri="{BB962C8B-B14F-4D97-AF65-F5344CB8AC3E}">
        <p14:creationId xmlns:p14="http://schemas.microsoft.com/office/powerpoint/2010/main" val="156777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9644D-9795-1139-60F6-44C3AE8C7127}"/>
              </a:ext>
            </a:extLst>
          </p:cNvPr>
          <p:cNvSpPr>
            <a:spLocks noGrp="1"/>
          </p:cNvSpPr>
          <p:nvPr>
            <p:ph type="title"/>
          </p:nvPr>
        </p:nvSpPr>
        <p:spPr>
          <a:xfrm>
            <a:off x="2854411" y="592413"/>
            <a:ext cx="8926500" cy="2039341"/>
          </a:xfrm>
        </p:spPr>
        <p:txBody>
          <a:bodyPr/>
          <a:lstStyle/>
          <a:p>
            <a:r>
              <a:rPr lang="en-US" dirty="0"/>
              <a:t>Standardized frequency by migraine type</a:t>
            </a:r>
          </a:p>
        </p:txBody>
      </p:sp>
      <p:sp>
        <p:nvSpPr>
          <p:cNvPr id="3" name="Content Placeholder 2">
            <a:extLst>
              <a:ext uri="{FF2B5EF4-FFF2-40B4-BE49-F238E27FC236}">
                <a16:creationId xmlns:a16="http://schemas.microsoft.com/office/drawing/2014/main" id="{BB5FF3C3-C536-77B9-043F-874D016F3ADE}"/>
              </a:ext>
            </a:extLst>
          </p:cNvPr>
          <p:cNvSpPr>
            <a:spLocks noGrp="1"/>
          </p:cNvSpPr>
          <p:nvPr>
            <p:ph sz="half" idx="14"/>
          </p:nvPr>
        </p:nvSpPr>
        <p:spPr/>
        <p:txBody>
          <a:bodyPr/>
          <a:lstStyle/>
          <a:p>
            <a:endParaRPr lang="en-US"/>
          </a:p>
        </p:txBody>
      </p:sp>
      <p:sp>
        <p:nvSpPr>
          <p:cNvPr id="4" name="Content Placeholder 3">
            <a:extLst>
              <a:ext uri="{FF2B5EF4-FFF2-40B4-BE49-F238E27FC236}">
                <a16:creationId xmlns:a16="http://schemas.microsoft.com/office/drawing/2014/main" id="{E6295537-FF2E-7B7B-BEDE-F4E93079D490}"/>
              </a:ext>
            </a:extLst>
          </p:cNvPr>
          <p:cNvSpPr>
            <a:spLocks noGrp="1"/>
          </p:cNvSpPr>
          <p:nvPr>
            <p:ph sz="half" idx="1"/>
          </p:nvPr>
        </p:nvSpPr>
        <p:spPr>
          <a:xfrm>
            <a:off x="7047545" y="2371999"/>
            <a:ext cx="4580088" cy="3006531"/>
          </a:xfrm>
        </p:spPr>
        <p:txBody>
          <a:bodyPr/>
          <a:lstStyle/>
          <a:p>
            <a:r>
              <a:rPr lang="en-US" dirty="0"/>
              <a:t>This violin plot shows the standardized frequency by migraine type across all patients </a:t>
            </a:r>
          </a:p>
          <a:p>
            <a:endParaRPr lang="en-US" dirty="0"/>
          </a:p>
          <a:p>
            <a:r>
              <a:rPr lang="en-US" dirty="0"/>
              <a:t>All types except Migraine without aura have a below average frequency.</a:t>
            </a:r>
          </a:p>
        </p:txBody>
      </p:sp>
      <p:sp>
        <p:nvSpPr>
          <p:cNvPr id="5" name="Slide Number Placeholder 4">
            <a:extLst>
              <a:ext uri="{FF2B5EF4-FFF2-40B4-BE49-F238E27FC236}">
                <a16:creationId xmlns:a16="http://schemas.microsoft.com/office/drawing/2014/main" id="{07C3F4CE-3392-282F-A725-6C4113BEE01B}"/>
              </a:ext>
            </a:extLst>
          </p:cNvPr>
          <p:cNvSpPr>
            <a:spLocks noGrp="1"/>
          </p:cNvSpPr>
          <p:nvPr>
            <p:ph type="sldNum" sz="quarter" idx="12"/>
          </p:nvPr>
        </p:nvSpPr>
        <p:spPr/>
        <p:txBody>
          <a:bodyPr/>
          <a:lstStyle/>
          <a:p>
            <a:fld id="{B5CEABB6-07DC-46E8-9B57-56EC44A396E5}" type="slidenum">
              <a:rPr lang="en-US" smtClean="0"/>
              <a:pPr/>
              <a:t>16</a:t>
            </a:fld>
            <a:endParaRPr lang="en-US" dirty="0"/>
          </a:p>
        </p:txBody>
      </p:sp>
      <p:pic>
        <p:nvPicPr>
          <p:cNvPr id="7" name="Picture 6">
            <a:extLst>
              <a:ext uri="{FF2B5EF4-FFF2-40B4-BE49-F238E27FC236}">
                <a16:creationId xmlns:a16="http://schemas.microsoft.com/office/drawing/2014/main" id="{A725BAA2-FAF9-29D5-CB4D-22FAB6AF3B1F}"/>
              </a:ext>
            </a:extLst>
          </p:cNvPr>
          <p:cNvPicPr>
            <a:picLocks noChangeAspect="1"/>
          </p:cNvPicPr>
          <p:nvPr/>
        </p:nvPicPr>
        <p:blipFill>
          <a:blip r:embed="rId2"/>
          <a:stretch>
            <a:fillRect/>
          </a:stretch>
        </p:blipFill>
        <p:spPr>
          <a:xfrm>
            <a:off x="-1" y="2375127"/>
            <a:ext cx="6547045" cy="4099814"/>
          </a:xfrm>
          <a:prstGeom prst="rect">
            <a:avLst/>
          </a:prstGeom>
        </p:spPr>
      </p:pic>
    </p:spTree>
    <p:extLst>
      <p:ext uri="{BB962C8B-B14F-4D97-AF65-F5344CB8AC3E}">
        <p14:creationId xmlns:p14="http://schemas.microsoft.com/office/powerpoint/2010/main" val="2655314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DD1A7-EA7A-40FE-3E74-50F501CA11E9}"/>
              </a:ext>
            </a:extLst>
          </p:cNvPr>
          <p:cNvSpPr>
            <a:spLocks noGrp="1"/>
          </p:cNvSpPr>
          <p:nvPr>
            <p:ph type="title"/>
          </p:nvPr>
        </p:nvSpPr>
        <p:spPr>
          <a:xfrm>
            <a:off x="2854411" y="146689"/>
            <a:ext cx="9062424" cy="2039341"/>
          </a:xfrm>
        </p:spPr>
        <p:txBody>
          <a:bodyPr/>
          <a:lstStyle/>
          <a:p>
            <a:r>
              <a:rPr lang="en-US" dirty="0"/>
              <a:t>Standardized intensity by migraine type</a:t>
            </a:r>
          </a:p>
        </p:txBody>
      </p:sp>
      <p:sp>
        <p:nvSpPr>
          <p:cNvPr id="3" name="Content Placeholder 2">
            <a:extLst>
              <a:ext uri="{FF2B5EF4-FFF2-40B4-BE49-F238E27FC236}">
                <a16:creationId xmlns:a16="http://schemas.microsoft.com/office/drawing/2014/main" id="{F0135C92-930A-9EE6-CB57-A1D3A766E7E5}"/>
              </a:ext>
            </a:extLst>
          </p:cNvPr>
          <p:cNvSpPr>
            <a:spLocks noGrp="1"/>
          </p:cNvSpPr>
          <p:nvPr>
            <p:ph sz="half" idx="14"/>
          </p:nvPr>
        </p:nvSpPr>
        <p:spPr/>
        <p:txBody>
          <a:bodyPr/>
          <a:lstStyle/>
          <a:p>
            <a:endParaRPr lang="en-US"/>
          </a:p>
        </p:txBody>
      </p:sp>
      <p:sp>
        <p:nvSpPr>
          <p:cNvPr id="4" name="Content Placeholder 3">
            <a:extLst>
              <a:ext uri="{FF2B5EF4-FFF2-40B4-BE49-F238E27FC236}">
                <a16:creationId xmlns:a16="http://schemas.microsoft.com/office/drawing/2014/main" id="{F5A79236-14F8-10AB-04C7-E98135C22B4F}"/>
              </a:ext>
            </a:extLst>
          </p:cNvPr>
          <p:cNvSpPr>
            <a:spLocks noGrp="1"/>
          </p:cNvSpPr>
          <p:nvPr>
            <p:ph sz="half" idx="1"/>
          </p:nvPr>
        </p:nvSpPr>
        <p:spPr>
          <a:xfrm>
            <a:off x="7147707" y="2594929"/>
            <a:ext cx="4580088" cy="3006531"/>
          </a:xfrm>
        </p:spPr>
        <p:txBody>
          <a:bodyPr/>
          <a:lstStyle/>
          <a:p>
            <a:r>
              <a:rPr lang="en-US" dirty="0"/>
              <a:t>This violin plot shows the intensity across each migraine type standardized from the average intensity from the entire dataset.</a:t>
            </a:r>
          </a:p>
          <a:p>
            <a:endParaRPr lang="en-US" dirty="0"/>
          </a:p>
          <a:p>
            <a:r>
              <a:rPr lang="en-US" dirty="0"/>
              <a:t>Migraine without aura and Other are the only two with above average reported intensity by </a:t>
            </a:r>
            <a:r>
              <a:rPr lang="en-US" dirty="0" err="1"/>
              <a:t>paitnets</a:t>
            </a:r>
            <a:r>
              <a:rPr lang="en-US" dirty="0"/>
              <a:t>.</a:t>
            </a:r>
          </a:p>
        </p:txBody>
      </p:sp>
      <p:sp>
        <p:nvSpPr>
          <p:cNvPr id="5" name="Slide Number Placeholder 4">
            <a:extLst>
              <a:ext uri="{FF2B5EF4-FFF2-40B4-BE49-F238E27FC236}">
                <a16:creationId xmlns:a16="http://schemas.microsoft.com/office/drawing/2014/main" id="{56416B08-4FEF-1514-F4F8-F05EA0FD8F98}"/>
              </a:ext>
            </a:extLst>
          </p:cNvPr>
          <p:cNvSpPr>
            <a:spLocks noGrp="1"/>
          </p:cNvSpPr>
          <p:nvPr>
            <p:ph type="sldNum" sz="quarter" idx="12"/>
          </p:nvPr>
        </p:nvSpPr>
        <p:spPr/>
        <p:txBody>
          <a:bodyPr/>
          <a:lstStyle/>
          <a:p>
            <a:fld id="{B5CEABB6-07DC-46E8-9B57-56EC44A396E5}" type="slidenum">
              <a:rPr lang="en-US" smtClean="0"/>
              <a:pPr/>
              <a:t>17</a:t>
            </a:fld>
            <a:endParaRPr lang="en-US" dirty="0"/>
          </a:p>
        </p:txBody>
      </p:sp>
      <p:pic>
        <p:nvPicPr>
          <p:cNvPr id="7" name="Picture 6">
            <a:extLst>
              <a:ext uri="{FF2B5EF4-FFF2-40B4-BE49-F238E27FC236}">
                <a16:creationId xmlns:a16="http://schemas.microsoft.com/office/drawing/2014/main" id="{AEA9750B-1B42-1855-E815-B0156FA8DDA1}"/>
              </a:ext>
            </a:extLst>
          </p:cNvPr>
          <p:cNvPicPr>
            <a:picLocks noChangeAspect="1"/>
          </p:cNvPicPr>
          <p:nvPr/>
        </p:nvPicPr>
        <p:blipFill>
          <a:blip r:embed="rId2"/>
          <a:stretch>
            <a:fillRect/>
          </a:stretch>
        </p:blipFill>
        <p:spPr>
          <a:xfrm>
            <a:off x="0" y="2351533"/>
            <a:ext cx="6856019" cy="4187379"/>
          </a:xfrm>
          <a:prstGeom prst="rect">
            <a:avLst/>
          </a:prstGeom>
        </p:spPr>
      </p:pic>
    </p:spTree>
    <p:extLst>
      <p:ext uri="{BB962C8B-B14F-4D97-AF65-F5344CB8AC3E}">
        <p14:creationId xmlns:p14="http://schemas.microsoft.com/office/powerpoint/2010/main" val="776449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48233-BB38-96C5-47A9-ADD26D6E101F}"/>
              </a:ext>
            </a:extLst>
          </p:cNvPr>
          <p:cNvSpPr>
            <a:spLocks noGrp="1"/>
          </p:cNvSpPr>
          <p:nvPr>
            <p:ph type="ctrTitle"/>
          </p:nvPr>
        </p:nvSpPr>
        <p:spPr>
          <a:xfrm>
            <a:off x="3052119" y="0"/>
            <a:ext cx="9374659" cy="3590596"/>
          </a:xfrm>
        </p:spPr>
        <p:txBody>
          <a:bodyPr/>
          <a:lstStyle/>
          <a:p>
            <a:r>
              <a:rPr lang="en-US" dirty="0"/>
              <a:t>Data preprocessing</a:t>
            </a:r>
          </a:p>
        </p:txBody>
      </p:sp>
    </p:spTree>
    <p:extLst>
      <p:ext uri="{BB962C8B-B14F-4D97-AF65-F5344CB8AC3E}">
        <p14:creationId xmlns:p14="http://schemas.microsoft.com/office/powerpoint/2010/main" val="3655546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FEA2E7D-7130-E21F-FA34-A3F427209D75}"/>
              </a:ext>
            </a:extLst>
          </p:cNvPr>
          <p:cNvSpPr>
            <a:spLocks noGrp="1"/>
          </p:cNvSpPr>
          <p:nvPr>
            <p:ph type="title"/>
          </p:nvPr>
        </p:nvSpPr>
        <p:spPr>
          <a:xfrm>
            <a:off x="1532238" y="429461"/>
            <a:ext cx="9745362" cy="583793"/>
          </a:xfrm>
        </p:spPr>
        <p:txBody>
          <a:bodyPr>
            <a:normAutofit fontScale="90000"/>
          </a:bodyPr>
          <a:lstStyle/>
          <a:p>
            <a:r>
              <a:rPr lang="en-US" dirty="0"/>
              <a:t>Label encoding  </a:t>
            </a:r>
          </a:p>
        </p:txBody>
      </p:sp>
      <p:sp>
        <p:nvSpPr>
          <p:cNvPr id="7" name="Content Placeholder 6">
            <a:extLst>
              <a:ext uri="{FF2B5EF4-FFF2-40B4-BE49-F238E27FC236}">
                <a16:creationId xmlns:a16="http://schemas.microsoft.com/office/drawing/2014/main" id="{9AC21DAA-3AA5-B884-A6B8-CB0A85A41E56}"/>
              </a:ext>
            </a:extLst>
          </p:cNvPr>
          <p:cNvSpPr>
            <a:spLocks noGrp="1"/>
          </p:cNvSpPr>
          <p:nvPr>
            <p:ph sz="half" idx="14"/>
          </p:nvPr>
        </p:nvSpPr>
        <p:spPr>
          <a:xfrm>
            <a:off x="4444442" y="1397012"/>
            <a:ext cx="7603396" cy="2668463"/>
          </a:xfrm>
        </p:spPr>
        <p:txBody>
          <a:bodyPr>
            <a:normAutofit/>
          </a:bodyPr>
          <a:lstStyle/>
          <a:p>
            <a:r>
              <a:rPr lang="en-US" dirty="0"/>
              <a:t>For all categorical data such as location and character ID numbers are given to each unique value and new columns are created to the Data-Frame so the machine learning algorithms can process them.</a:t>
            </a:r>
          </a:p>
        </p:txBody>
      </p:sp>
    </p:spTree>
    <p:extLst>
      <p:ext uri="{BB962C8B-B14F-4D97-AF65-F5344CB8AC3E}">
        <p14:creationId xmlns:p14="http://schemas.microsoft.com/office/powerpoint/2010/main" val="2436493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9387711-E0E1-A248-D4FF-938F054EEC78}"/>
              </a:ext>
            </a:extLst>
          </p:cNvPr>
          <p:cNvSpPr>
            <a:spLocks noGrp="1"/>
          </p:cNvSpPr>
          <p:nvPr>
            <p:ph type="ctrTitle"/>
          </p:nvPr>
        </p:nvSpPr>
        <p:spPr>
          <a:xfrm>
            <a:off x="1594023" y="544285"/>
            <a:ext cx="9834440" cy="796423"/>
          </a:xfrm>
        </p:spPr>
        <p:txBody>
          <a:bodyPr>
            <a:normAutofit fontScale="90000"/>
          </a:bodyPr>
          <a:lstStyle/>
          <a:p>
            <a:r>
              <a:rPr lang="en-US" dirty="0"/>
              <a:t>Multilabel binarizing symptom data</a:t>
            </a:r>
          </a:p>
        </p:txBody>
      </p:sp>
      <p:sp>
        <p:nvSpPr>
          <p:cNvPr id="6" name="Subtitle 5">
            <a:extLst>
              <a:ext uri="{FF2B5EF4-FFF2-40B4-BE49-F238E27FC236}">
                <a16:creationId xmlns:a16="http://schemas.microsoft.com/office/drawing/2014/main" id="{54EAAD18-299D-35CD-8A36-A38906CC5AD3}"/>
              </a:ext>
            </a:extLst>
          </p:cNvPr>
          <p:cNvSpPr>
            <a:spLocks noGrp="1"/>
          </p:cNvSpPr>
          <p:nvPr>
            <p:ph type="subTitle" idx="1"/>
          </p:nvPr>
        </p:nvSpPr>
        <p:spPr>
          <a:xfrm>
            <a:off x="4858372" y="1681471"/>
            <a:ext cx="7115325" cy="1877275"/>
          </a:xfrm>
        </p:spPr>
        <p:txBody>
          <a:bodyPr>
            <a:normAutofit/>
          </a:bodyPr>
          <a:lstStyle/>
          <a:p>
            <a:r>
              <a:rPr lang="en-US" sz="2100" dirty="0"/>
              <a:t>All symptoms are encoded with 1 or 0 for yes or no if each patient has the symptom. Cells are then updated within the Data-Frame.</a:t>
            </a:r>
          </a:p>
        </p:txBody>
      </p:sp>
      <p:sp>
        <p:nvSpPr>
          <p:cNvPr id="4" name="Slide Number Placeholder 3">
            <a:extLst>
              <a:ext uri="{FF2B5EF4-FFF2-40B4-BE49-F238E27FC236}">
                <a16:creationId xmlns:a16="http://schemas.microsoft.com/office/drawing/2014/main" id="{3807419A-724D-D03A-C041-EDF5BB6A3782}"/>
              </a:ext>
            </a:extLst>
          </p:cNvPr>
          <p:cNvSpPr>
            <a:spLocks noGrp="1"/>
          </p:cNvSpPr>
          <p:nvPr>
            <p:ph type="sldNum" sz="quarter" idx="4294967295"/>
          </p:nvPr>
        </p:nvSpPr>
        <p:spPr>
          <a:xfrm>
            <a:off x="11734800" y="6356350"/>
            <a:ext cx="457200" cy="365125"/>
          </a:xfrm>
        </p:spPr>
        <p:txBody>
          <a:bodyPr/>
          <a:lstStyle/>
          <a:p>
            <a:fld id="{B5CEABB6-07DC-46E8-9B57-56EC44A396E5}" type="slidenum">
              <a:rPr lang="en-US" smtClean="0"/>
              <a:pPr/>
              <a:t>20</a:t>
            </a:fld>
            <a:endParaRPr lang="en-US" dirty="0"/>
          </a:p>
        </p:txBody>
      </p:sp>
    </p:spTree>
    <p:extLst>
      <p:ext uri="{BB962C8B-B14F-4D97-AF65-F5344CB8AC3E}">
        <p14:creationId xmlns:p14="http://schemas.microsoft.com/office/powerpoint/2010/main" val="1107982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706CDD-0B01-1F45-69A8-00190093CA1E}"/>
              </a:ext>
            </a:extLst>
          </p:cNvPr>
          <p:cNvSpPr>
            <a:spLocks noGrp="1"/>
          </p:cNvSpPr>
          <p:nvPr>
            <p:ph type="title"/>
          </p:nvPr>
        </p:nvSpPr>
        <p:spPr>
          <a:xfrm>
            <a:off x="4933950" y="429461"/>
            <a:ext cx="6343650" cy="942139"/>
          </a:xfrm>
        </p:spPr>
        <p:txBody>
          <a:bodyPr/>
          <a:lstStyle/>
          <a:p>
            <a:r>
              <a:rPr lang="en-US" dirty="0"/>
              <a:t>Feature Scaling </a:t>
            </a:r>
          </a:p>
        </p:txBody>
      </p:sp>
      <p:sp>
        <p:nvSpPr>
          <p:cNvPr id="5" name="Content Placeholder 4">
            <a:extLst>
              <a:ext uri="{FF2B5EF4-FFF2-40B4-BE49-F238E27FC236}">
                <a16:creationId xmlns:a16="http://schemas.microsoft.com/office/drawing/2014/main" id="{1F02BFE4-78DE-274C-1D2A-2304B4616CE7}"/>
              </a:ext>
            </a:extLst>
          </p:cNvPr>
          <p:cNvSpPr>
            <a:spLocks noGrp="1"/>
          </p:cNvSpPr>
          <p:nvPr>
            <p:ph sz="half" idx="14"/>
          </p:nvPr>
        </p:nvSpPr>
        <p:spPr>
          <a:xfrm>
            <a:off x="4234377" y="1510664"/>
            <a:ext cx="7862888" cy="4667714"/>
          </a:xfrm>
        </p:spPr>
        <p:txBody>
          <a:bodyPr>
            <a:normAutofit/>
          </a:bodyPr>
          <a:lstStyle/>
          <a:p>
            <a:r>
              <a:rPr lang="en-US" dirty="0"/>
              <a:t>Age, Duration and Frequency are scaled and standardized by calculating the mean and standard deviation of each of the columns and then centering the values via the Z score equation. </a:t>
            </a:r>
          </a:p>
          <a:p>
            <a:endParaRPr lang="en-US" dirty="0"/>
          </a:p>
          <a:p>
            <a:endParaRPr lang="en-US" dirty="0"/>
          </a:p>
          <a:p>
            <a:r>
              <a:rPr lang="en-US" dirty="0"/>
              <a:t>The centered and scaled data is then saved to the Data-Frame.</a:t>
            </a:r>
          </a:p>
        </p:txBody>
      </p:sp>
      <p:pic>
        <p:nvPicPr>
          <p:cNvPr id="7" name="Picture 6">
            <a:extLst>
              <a:ext uri="{FF2B5EF4-FFF2-40B4-BE49-F238E27FC236}">
                <a16:creationId xmlns:a16="http://schemas.microsoft.com/office/drawing/2014/main" id="{B59BDA44-DB2E-0AD6-C803-93570C2945EF}"/>
              </a:ext>
            </a:extLst>
          </p:cNvPr>
          <p:cNvPicPr>
            <a:picLocks noChangeAspect="1"/>
          </p:cNvPicPr>
          <p:nvPr/>
        </p:nvPicPr>
        <p:blipFill>
          <a:blip r:embed="rId2"/>
          <a:stretch>
            <a:fillRect/>
          </a:stretch>
        </p:blipFill>
        <p:spPr>
          <a:xfrm>
            <a:off x="9809960" y="3201676"/>
            <a:ext cx="1743606" cy="1285690"/>
          </a:xfrm>
          <a:prstGeom prst="rect">
            <a:avLst/>
          </a:prstGeom>
        </p:spPr>
      </p:pic>
    </p:spTree>
    <p:extLst>
      <p:ext uri="{BB962C8B-B14F-4D97-AF65-F5344CB8AC3E}">
        <p14:creationId xmlns:p14="http://schemas.microsoft.com/office/powerpoint/2010/main" val="110952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DE0B2-53EE-8B3C-FC5F-FB9454B7FC95}"/>
              </a:ext>
            </a:extLst>
          </p:cNvPr>
          <p:cNvSpPr>
            <a:spLocks noGrp="1"/>
          </p:cNvSpPr>
          <p:nvPr>
            <p:ph type="ctrTitle"/>
          </p:nvPr>
        </p:nvSpPr>
        <p:spPr>
          <a:xfrm>
            <a:off x="1112108" y="1"/>
            <a:ext cx="10972799" cy="1404258"/>
          </a:xfrm>
        </p:spPr>
        <p:txBody>
          <a:bodyPr>
            <a:normAutofit/>
          </a:bodyPr>
          <a:lstStyle/>
          <a:p>
            <a:r>
              <a:rPr lang="en-US" dirty="0"/>
              <a:t>Synthetic Minority Over-sampling Technique (SMOTE)</a:t>
            </a:r>
          </a:p>
        </p:txBody>
      </p:sp>
      <p:sp>
        <p:nvSpPr>
          <p:cNvPr id="3" name="Subtitle 2">
            <a:extLst>
              <a:ext uri="{FF2B5EF4-FFF2-40B4-BE49-F238E27FC236}">
                <a16:creationId xmlns:a16="http://schemas.microsoft.com/office/drawing/2014/main" id="{50A2AA51-A487-1BB6-3FE2-C150F7FB1EBC}"/>
              </a:ext>
            </a:extLst>
          </p:cNvPr>
          <p:cNvSpPr>
            <a:spLocks noGrp="1"/>
          </p:cNvSpPr>
          <p:nvPr>
            <p:ph type="subTitle" idx="1"/>
          </p:nvPr>
        </p:nvSpPr>
        <p:spPr>
          <a:xfrm>
            <a:off x="6845643" y="1399031"/>
            <a:ext cx="5239264" cy="5458968"/>
          </a:xfrm>
        </p:spPr>
        <p:txBody>
          <a:bodyPr>
            <a:normAutofit/>
          </a:bodyPr>
          <a:lstStyle/>
          <a:p>
            <a:r>
              <a:rPr lang="en-US" sz="2100" dirty="0"/>
              <a:t>Since there is an imbalance between types as seen with the following chart, SMOTE is used to help the minority categories stay relevant in the dataset so the majority type is not dominating the machine learning algorithms. </a:t>
            </a:r>
          </a:p>
          <a:p>
            <a:r>
              <a:rPr lang="en-US" sz="2100" dirty="0"/>
              <a:t>This is done by analysis the data and creating synthetic examples of underrepresented types that match the original data.</a:t>
            </a:r>
          </a:p>
        </p:txBody>
      </p:sp>
      <p:pic>
        <p:nvPicPr>
          <p:cNvPr id="4" name="Picture 3">
            <a:extLst>
              <a:ext uri="{FF2B5EF4-FFF2-40B4-BE49-F238E27FC236}">
                <a16:creationId xmlns:a16="http://schemas.microsoft.com/office/drawing/2014/main" id="{A65412C3-866F-589C-1B17-E881F1D60372}"/>
              </a:ext>
            </a:extLst>
          </p:cNvPr>
          <p:cNvPicPr>
            <a:picLocks noChangeAspect="1"/>
          </p:cNvPicPr>
          <p:nvPr/>
        </p:nvPicPr>
        <p:blipFill>
          <a:blip r:embed="rId2"/>
          <a:stretch>
            <a:fillRect/>
          </a:stretch>
        </p:blipFill>
        <p:spPr>
          <a:xfrm>
            <a:off x="1" y="3583458"/>
            <a:ext cx="6845642" cy="3301971"/>
          </a:xfrm>
          <a:prstGeom prst="rect">
            <a:avLst/>
          </a:prstGeom>
        </p:spPr>
      </p:pic>
    </p:spTree>
    <p:extLst>
      <p:ext uri="{BB962C8B-B14F-4D97-AF65-F5344CB8AC3E}">
        <p14:creationId xmlns:p14="http://schemas.microsoft.com/office/powerpoint/2010/main" val="2033229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1C893F-E3B7-97D5-2F48-DA2BEE6C5A3A}"/>
              </a:ext>
            </a:extLst>
          </p:cNvPr>
          <p:cNvSpPr>
            <a:spLocks noGrp="1"/>
          </p:cNvSpPr>
          <p:nvPr>
            <p:ph type="title"/>
          </p:nvPr>
        </p:nvSpPr>
        <p:spPr/>
        <p:txBody>
          <a:bodyPr/>
          <a:lstStyle/>
          <a:p>
            <a:r>
              <a:rPr lang="en-US" dirty="0"/>
              <a:t>Feature selection and Dimensional Reduction</a:t>
            </a:r>
          </a:p>
        </p:txBody>
      </p:sp>
      <p:sp>
        <p:nvSpPr>
          <p:cNvPr id="6" name="Content Placeholder 5">
            <a:extLst>
              <a:ext uri="{FF2B5EF4-FFF2-40B4-BE49-F238E27FC236}">
                <a16:creationId xmlns:a16="http://schemas.microsoft.com/office/drawing/2014/main" id="{8B6D14A5-E70B-8DA8-C71C-BF06C3E2BBC8}"/>
              </a:ext>
            </a:extLst>
          </p:cNvPr>
          <p:cNvSpPr>
            <a:spLocks noGrp="1"/>
          </p:cNvSpPr>
          <p:nvPr>
            <p:ph sz="half" idx="14"/>
          </p:nvPr>
        </p:nvSpPr>
        <p:spPr>
          <a:xfrm>
            <a:off x="7734094" y="2419283"/>
            <a:ext cx="3918328" cy="3870306"/>
          </a:xfrm>
        </p:spPr>
        <p:txBody>
          <a:bodyPr>
            <a:normAutofit/>
          </a:bodyPr>
          <a:lstStyle/>
          <a:p>
            <a:pPr marL="0" indent="0">
              <a:buNone/>
            </a:pPr>
            <a:r>
              <a:rPr lang="en-US" dirty="0"/>
              <a:t>Initial Machine learning Models are implemented to find which values are most significant for correctly diagnosis each type of migraine.</a:t>
            </a:r>
          </a:p>
          <a:p>
            <a:pPr marL="0" indent="0">
              <a:buNone/>
            </a:pPr>
            <a:endParaRPr lang="en-US" dirty="0"/>
          </a:p>
          <a:p>
            <a:pPr marL="0" indent="0">
              <a:buNone/>
            </a:pPr>
            <a:r>
              <a:rPr lang="en-US" dirty="0"/>
              <a:t>This is a great indicator if which columns to weight, however this method is very sensitive to highly correlated data meaning the machine learning model cannot distinguish which variable is influencing the outcome which weakens the model’s stability.</a:t>
            </a:r>
          </a:p>
        </p:txBody>
      </p:sp>
      <p:pic>
        <p:nvPicPr>
          <p:cNvPr id="8" name="Picture 7">
            <a:extLst>
              <a:ext uri="{FF2B5EF4-FFF2-40B4-BE49-F238E27FC236}">
                <a16:creationId xmlns:a16="http://schemas.microsoft.com/office/drawing/2014/main" id="{D3F10A17-834B-3578-DB76-16729377212F}"/>
              </a:ext>
            </a:extLst>
          </p:cNvPr>
          <p:cNvPicPr>
            <a:picLocks noChangeAspect="1"/>
          </p:cNvPicPr>
          <p:nvPr/>
        </p:nvPicPr>
        <p:blipFill>
          <a:blip r:embed="rId2"/>
          <a:stretch>
            <a:fillRect/>
          </a:stretch>
        </p:blipFill>
        <p:spPr>
          <a:xfrm>
            <a:off x="0" y="2457224"/>
            <a:ext cx="7093315" cy="4400776"/>
          </a:xfrm>
          <a:prstGeom prst="rect">
            <a:avLst/>
          </a:prstGeom>
        </p:spPr>
      </p:pic>
    </p:spTree>
    <p:extLst>
      <p:ext uri="{BB962C8B-B14F-4D97-AF65-F5344CB8AC3E}">
        <p14:creationId xmlns:p14="http://schemas.microsoft.com/office/powerpoint/2010/main" val="3159793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20C2731-ED1D-423E-9288-93EED453542A}"/>
              </a:ext>
            </a:extLst>
          </p:cNvPr>
          <p:cNvSpPr>
            <a:spLocks noGrp="1"/>
          </p:cNvSpPr>
          <p:nvPr>
            <p:ph type="ctrTitle"/>
          </p:nvPr>
        </p:nvSpPr>
        <p:spPr>
          <a:xfrm>
            <a:off x="1382666" y="111800"/>
            <a:ext cx="9426667" cy="1012666"/>
          </a:xfrm>
        </p:spPr>
        <p:txBody>
          <a:bodyPr>
            <a:normAutofit fontScale="90000"/>
          </a:bodyPr>
          <a:lstStyle/>
          <a:p>
            <a:r>
              <a:rPr lang="en-US" dirty="0"/>
              <a:t>Mutual Information scoring</a:t>
            </a:r>
          </a:p>
        </p:txBody>
      </p:sp>
      <p:sp>
        <p:nvSpPr>
          <p:cNvPr id="7" name="Subtitle 6">
            <a:extLst>
              <a:ext uri="{FF2B5EF4-FFF2-40B4-BE49-F238E27FC236}">
                <a16:creationId xmlns:a16="http://schemas.microsoft.com/office/drawing/2014/main" id="{D86593C5-A37E-1930-1078-02C4A1C69815}"/>
              </a:ext>
            </a:extLst>
          </p:cNvPr>
          <p:cNvSpPr>
            <a:spLocks noGrp="1"/>
          </p:cNvSpPr>
          <p:nvPr>
            <p:ph type="subTitle" idx="1"/>
          </p:nvPr>
        </p:nvSpPr>
        <p:spPr>
          <a:xfrm>
            <a:off x="7055707" y="1124466"/>
            <a:ext cx="5041557" cy="5597009"/>
          </a:xfrm>
        </p:spPr>
        <p:txBody>
          <a:bodyPr>
            <a:noAutofit/>
          </a:bodyPr>
          <a:lstStyle/>
          <a:p>
            <a:r>
              <a:rPr lang="en-US" sz="2200" dirty="0"/>
              <a:t>Using mutual information classification, we can use the generated scores and combine them with the feature selection scores to create the best non bias weighting of the various features.</a:t>
            </a:r>
          </a:p>
          <a:p>
            <a:r>
              <a:rPr lang="en-US" sz="2200" dirty="0"/>
              <a:t>The scores are combined by simply adding them together</a:t>
            </a:r>
          </a:p>
          <a:p>
            <a:endParaRPr lang="en-US" sz="2200" dirty="0"/>
          </a:p>
        </p:txBody>
      </p:sp>
      <p:sp>
        <p:nvSpPr>
          <p:cNvPr id="5" name="Slide Number Placeholder 4">
            <a:extLst>
              <a:ext uri="{FF2B5EF4-FFF2-40B4-BE49-F238E27FC236}">
                <a16:creationId xmlns:a16="http://schemas.microsoft.com/office/drawing/2014/main" id="{59BFAB97-C026-0C57-1B30-5D0127F64164}"/>
              </a:ext>
            </a:extLst>
          </p:cNvPr>
          <p:cNvSpPr>
            <a:spLocks noGrp="1"/>
          </p:cNvSpPr>
          <p:nvPr>
            <p:ph type="sldNum" sz="quarter" idx="4294967295"/>
          </p:nvPr>
        </p:nvSpPr>
        <p:spPr>
          <a:xfrm>
            <a:off x="11734800" y="6356350"/>
            <a:ext cx="457200" cy="365125"/>
          </a:xfrm>
        </p:spPr>
        <p:txBody>
          <a:bodyPr/>
          <a:lstStyle/>
          <a:p>
            <a:fld id="{B5CEABB6-07DC-46E8-9B57-56EC44A396E5}" type="slidenum">
              <a:rPr lang="en-US" smtClean="0"/>
              <a:pPr/>
              <a:t>24</a:t>
            </a:fld>
            <a:endParaRPr lang="en-US" dirty="0"/>
          </a:p>
        </p:txBody>
      </p:sp>
      <p:pic>
        <p:nvPicPr>
          <p:cNvPr id="9" name="Picture 8">
            <a:extLst>
              <a:ext uri="{FF2B5EF4-FFF2-40B4-BE49-F238E27FC236}">
                <a16:creationId xmlns:a16="http://schemas.microsoft.com/office/drawing/2014/main" id="{456AF602-A944-DF38-4401-E3D9653C0CEC}"/>
              </a:ext>
            </a:extLst>
          </p:cNvPr>
          <p:cNvPicPr>
            <a:picLocks noChangeAspect="1"/>
          </p:cNvPicPr>
          <p:nvPr/>
        </p:nvPicPr>
        <p:blipFill>
          <a:blip r:embed="rId2"/>
          <a:stretch>
            <a:fillRect/>
          </a:stretch>
        </p:blipFill>
        <p:spPr>
          <a:xfrm>
            <a:off x="0" y="2031752"/>
            <a:ext cx="6877403" cy="4826248"/>
          </a:xfrm>
          <a:prstGeom prst="rect">
            <a:avLst/>
          </a:prstGeom>
        </p:spPr>
      </p:pic>
    </p:spTree>
    <p:extLst>
      <p:ext uri="{BB962C8B-B14F-4D97-AF65-F5344CB8AC3E}">
        <p14:creationId xmlns:p14="http://schemas.microsoft.com/office/powerpoint/2010/main" val="1898619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098821-37B6-FB6B-B5F4-F9229F01845C}"/>
              </a:ext>
            </a:extLst>
          </p:cNvPr>
          <p:cNvSpPr>
            <a:spLocks noGrp="1"/>
          </p:cNvSpPr>
          <p:nvPr>
            <p:ph type="ctrTitle"/>
          </p:nvPr>
        </p:nvSpPr>
        <p:spPr>
          <a:xfrm>
            <a:off x="704335" y="0"/>
            <a:ext cx="9991173" cy="881154"/>
          </a:xfrm>
        </p:spPr>
        <p:txBody>
          <a:bodyPr>
            <a:normAutofit fontScale="90000"/>
          </a:bodyPr>
          <a:lstStyle/>
          <a:p>
            <a:r>
              <a:rPr lang="en-US" dirty="0"/>
              <a:t>Principal component analysis </a:t>
            </a:r>
          </a:p>
        </p:txBody>
      </p:sp>
      <p:sp>
        <p:nvSpPr>
          <p:cNvPr id="5" name="Subtitle 4">
            <a:extLst>
              <a:ext uri="{FF2B5EF4-FFF2-40B4-BE49-F238E27FC236}">
                <a16:creationId xmlns:a16="http://schemas.microsoft.com/office/drawing/2014/main" id="{1D6196E2-0091-0305-F815-120043832530}"/>
              </a:ext>
            </a:extLst>
          </p:cNvPr>
          <p:cNvSpPr>
            <a:spLocks noGrp="1"/>
          </p:cNvSpPr>
          <p:nvPr>
            <p:ph type="subTitle" idx="1"/>
          </p:nvPr>
        </p:nvSpPr>
        <p:spPr>
          <a:xfrm>
            <a:off x="6759146" y="1050616"/>
            <a:ext cx="5209109" cy="5807384"/>
          </a:xfrm>
        </p:spPr>
        <p:txBody>
          <a:bodyPr>
            <a:normAutofit fontScale="92500" lnSpcReduction="10000"/>
          </a:bodyPr>
          <a:lstStyle/>
          <a:p>
            <a:r>
              <a:rPr lang="en-US" dirty="0"/>
              <a:t>This scatterplot shows the sensitivity of each datapoint broken down by type. </a:t>
            </a:r>
          </a:p>
          <a:p>
            <a:r>
              <a:rPr lang="en-US" dirty="0"/>
              <a:t>Principal Components 1 and 2 are the 1</a:t>
            </a:r>
            <a:r>
              <a:rPr lang="en-US" baseline="30000" dirty="0"/>
              <a:t>st</a:t>
            </a:r>
            <a:r>
              <a:rPr lang="en-US" dirty="0"/>
              <a:t> and 2</a:t>
            </a:r>
            <a:r>
              <a:rPr lang="en-US" baseline="30000" dirty="0"/>
              <a:t>nd</a:t>
            </a:r>
            <a:r>
              <a:rPr lang="en-US" dirty="0"/>
              <a:t> most influential data cell in each patient row.</a:t>
            </a:r>
          </a:p>
          <a:p>
            <a:r>
              <a:rPr lang="en-US" dirty="0"/>
              <a:t>Positive scores show that the model's decision is highly sensitive to the component negative scores show less sensitivity. Lower scores show a well-rounded decision based on multiple values.</a:t>
            </a:r>
          </a:p>
        </p:txBody>
      </p:sp>
      <p:pic>
        <p:nvPicPr>
          <p:cNvPr id="7" name="Picture 6">
            <a:extLst>
              <a:ext uri="{FF2B5EF4-FFF2-40B4-BE49-F238E27FC236}">
                <a16:creationId xmlns:a16="http://schemas.microsoft.com/office/drawing/2014/main" id="{A759374D-8011-F3D0-6938-B289719643FF}"/>
              </a:ext>
            </a:extLst>
          </p:cNvPr>
          <p:cNvPicPr>
            <a:picLocks noChangeAspect="1"/>
          </p:cNvPicPr>
          <p:nvPr/>
        </p:nvPicPr>
        <p:blipFill>
          <a:blip r:embed="rId2"/>
          <a:stretch>
            <a:fillRect/>
          </a:stretch>
        </p:blipFill>
        <p:spPr>
          <a:xfrm>
            <a:off x="0" y="1409420"/>
            <a:ext cx="6096000" cy="5448580"/>
          </a:xfrm>
          <a:prstGeom prst="rect">
            <a:avLst/>
          </a:prstGeom>
        </p:spPr>
      </p:pic>
    </p:spTree>
    <p:extLst>
      <p:ext uri="{BB962C8B-B14F-4D97-AF65-F5344CB8AC3E}">
        <p14:creationId xmlns:p14="http://schemas.microsoft.com/office/powerpoint/2010/main" val="1705378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BE870C-8217-A858-C92E-B08CBB0B1070}"/>
              </a:ext>
            </a:extLst>
          </p:cNvPr>
          <p:cNvSpPr>
            <a:spLocks noGrp="1"/>
          </p:cNvSpPr>
          <p:nvPr>
            <p:ph type="title"/>
          </p:nvPr>
        </p:nvSpPr>
        <p:spPr>
          <a:xfrm>
            <a:off x="2347784" y="311420"/>
            <a:ext cx="9844216" cy="883262"/>
          </a:xfrm>
        </p:spPr>
        <p:txBody>
          <a:bodyPr>
            <a:normAutofit fontScale="90000"/>
          </a:bodyPr>
          <a:lstStyle/>
          <a:p>
            <a:r>
              <a:rPr lang="en-US" dirty="0"/>
              <a:t>T-</a:t>
            </a:r>
            <a:r>
              <a:rPr lang="en-US" dirty="0" err="1"/>
              <a:t>sne</a:t>
            </a:r>
            <a:r>
              <a:rPr lang="en-US" dirty="0"/>
              <a:t> clustering by migraine type</a:t>
            </a:r>
          </a:p>
        </p:txBody>
      </p:sp>
      <p:sp>
        <p:nvSpPr>
          <p:cNvPr id="7" name="Content Placeholder 6">
            <a:extLst>
              <a:ext uri="{FF2B5EF4-FFF2-40B4-BE49-F238E27FC236}">
                <a16:creationId xmlns:a16="http://schemas.microsoft.com/office/drawing/2014/main" id="{C53AC908-2F77-3059-B519-595DBCD0C2BF}"/>
              </a:ext>
            </a:extLst>
          </p:cNvPr>
          <p:cNvSpPr>
            <a:spLocks noGrp="1"/>
          </p:cNvSpPr>
          <p:nvPr>
            <p:ph sz="half" idx="14"/>
          </p:nvPr>
        </p:nvSpPr>
        <p:spPr>
          <a:xfrm>
            <a:off x="7129849" y="1216729"/>
            <a:ext cx="4917989" cy="5504746"/>
          </a:xfrm>
        </p:spPr>
        <p:txBody>
          <a:bodyPr>
            <a:normAutofit/>
          </a:bodyPr>
          <a:lstStyle/>
          <a:p>
            <a:pPr marL="0" indent="0">
              <a:buNone/>
            </a:pPr>
            <a:r>
              <a:rPr lang="en-US" dirty="0"/>
              <a:t>This chart shows the different migraine types broken down by similar symptom records. How close each data point is to one another shows how close each of them have to identical symptoms, duration, intensity, location and frequency.</a:t>
            </a:r>
          </a:p>
          <a:p>
            <a:pPr marL="0" indent="0">
              <a:buNone/>
            </a:pPr>
            <a:r>
              <a:rPr lang="en-US" dirty="0"/>
              <a:t>This is a 2D representation however the algorithm that creates this chart starts in a 60-dimensional space but can break it down to this 2D space after computation thanks to the label encoding and symptom binarization</a:t>
            </a:r>
          </a:p>
          <a:p>
            <a:pPr marL="0" indent="0">
              <a:buNone/>
            </a:pPr>
            <a:r>
              <a:rPr lang="en-US" dirty="0"/>
              <a:t>Clusters show what the Model would confidently classify a hypothetical case as if it fell into that area</a:t>
            </a:r>
          </a:p>
          <a:p>
            <a:pPr marL="0" indent="0">
              <a:buNone/>
            </a:pPr>
            <a:r>
              <a:rPr lang="en-US" dirty="0"/>
              <a:t>This Chart shows the Clustering before the importance scoring is factored In.</a:t>
            </a:r>
          </a:p>
          <a:p>
            <a:pPr marL="0" indent="0">
              <a:buNone/>
            </a:pPr>
            <a:endParaRPr lang="en-US" dirty="0"/>
          </a:p>
          <a:p>
            <a:pPr marL="0" indent="0">
              <a:buNone/>
            </a:pPr>
            <a:r>
              <a:rPr lang="en-US" dirty="0"/>
              <a:t> </a:t>
            </a:r>
          </a:p>
        </p:txBody>
      </p:sp>
      <p:sp>
        <p:nvSpPr>
          <p:cNvPr id="4" name="Slide Number Placeholder 3">
            <a:extLst>
              <a:ext uri="{FF2B5EF4-FFF2-40B4-BE49-F238E27FC236}">
                <a16:creationId xmlns:a16="http://schemas.microsoft.com/office/drawing/2014/main" id="{76A0BC38-68DB-E88B-3843-CE2A23FEA31F}"/>
              </a:ext>
            </a:extLst>
          </p:cNvPr>
          <p:cNvSpPr>
            <a:spLocks noGrp="1"/>
          </p:cNvSpPr>
          <p:nvPr>
            <p:ph type="sldNum" sz="quarter" idx="12"/>
          </p:nvPr>
        </p:nvSpPr>
        <p:spPr/>
        <p:txBody>
          <a:bodyPr/>
          <a:lstStyle/>
          <a:p>
            <a:fld id="{B5CEABB6-07DC-46E8-9B57-56EC44A396E5}" type="slidenum">
              <a:rPr lang="en-US" smtClean="0"/>
              <a:pPr/>
              <a:t>26</a:t>
            </a:fld>
            <a:endParaRPr lang="en-US" dirty="0"/>
          </a:p>
        </p:txBody>
      </p:sp>
      <p:pic>
        <p:nvPicPr>
          <p:cNvPr id="9" name="Picture 8">
            <a:extLst>
              <a:ext uri="{FF2B5EF4-FFF2-40B4-BE49-F238E27FC236}">
                <a16:creationId xmlns:a16="http://schemas.microsoft.com/office/drawing/2014/main" id="{68A24155-448B-CFCC-4A28-7C0482E65B89}"/>
              </a:ext>
            </a:extLst>
          </p:cNvPr>
          <p:cNvPicPr>
            <a:picLocks noChangeAspect="1"/>
          </p:cNvPicPr>
          <p:nvPr/>
        </p:nvPicPr>
        <p:blipFill>
          <a:blip r:embed="rId2"/>
          <a:stretch>
            <a:fillRect/>
          </a:stretch>
        </p:blipFill>
        <p:spPr>
          <a:xfrm>
            <a:off x="0" y="1216729"/>
            <a:ext cx="7018638" cy="5641271"/>
          </a:xfrm>
          <a:prstGeom prst="rect">
            <a:avLst/>
          </a:prstGeom>
        </p:spPr>
      </p:pic>
    </p:spTree>
    <p:extLst>
      <p:ext uri="{BB962C8B-B14F-4D97-AF65-F5344CB8AC3E}">
        <p14:creationId xmlns:p14="http://schemas.microsoft.com/office/powerpoint/2010/main" val="3964947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1C374-E1DE-B97A-D8A6-15E40A76BB71}"/>
              </a:ext>
            </a:extLst>
          </p:cNvPr>
          <p:cNvSpPr>
            <a:spLocks noGrp="1"/>
          </p:cNvSpPr>
          <p:nvPr>
            <p:ph type="title"/>
          </p:nvPr>
        </p:nvSpPr>
        <p:spPr>
          <a:xfrm>
            <a:off x="2813222" y="136525"/>
            <a:ext cx="9922476" cy="1093327"/>
          </a:xfrm>
        </p:spPr>
        <p:txBody>
          <a:bodyPr>
            <a:normAutofit fontScale="90000"/>
          </a:bodyPr>
          <a:lstStyle/>
          <a:p>
            <a:r>
              <a:rPr lang="en-US" dirty="0"/>
              <a:t>T-</a:t>
            </a:r>
            <a:r>
              <a:rPr lang="en-US" dirty="0" err="1"/>
              <a:t>sne</a:t>
            </a:r>
            <a:r>
              <a:rPr lang="en-US" dirty="0"/>
              <a:t> with feature importance scores</a:t>
            </a:r>
          </a:p>
        </p:txBody>
      </p:sp>
      <p:sp>
        <p:nvSpPr>
          <p:cNvPr id="3" name="Content Placeholder 2">
            <a:extLst>
              <a:ext uri="{FF2B5EF4-FFF2-40B4-BE49-F238E27FC236}">
                <a16:creationId xmlns:a16="http://schemas.microsoft.com/office/drawing/2014/main" id="{06A8D806-C62D-D3F1-E181-E7C110FC1359}"/>
              </a:ext>
            </a:extLst>
          </p:cNvPr>
          <p:cNvSpPr>
            <a:spLocks noGrp="1"/>
          </p:cNvSpPr>
          <p:nvPr>
            <p:ph sz="half" idx="14"/>
          </p:nvPr>
        </p:nvSpPr>
        <p:spPr>
          <a:xfrm>
            <a:off x="7278131" y="1306267"/>
            <a:ext cx="4819134" cy="5143960"/>
          </a:xfrm>
        </p:spPr>
        <p:txBody>
          <a:bodyPr>
            <a:normAutofit/>
          </a:bodyPr>
          <a:lstStyle/>
          <a:p>
            <a:pPr marL="0" indent="0">
              <a:buNone/>
            </a:pPr>
            <a:r>
              <a:rPr lang="en-US" sz="2200" dirty="0"/>
              <a:t>This chart shows the transformed t-SNE by accounting for the feature selection scores calculated earlier.</a:t>
            </a:r>
          </a:p>
          <a:p>
            <a:pPr marL="0" indent="0">
              <a:buNone/>
            </a:pPr>
            <a:r>
              <a:rPr lang="en-US" sz="2200" dirty="0"/>
              <a:t> Thanks to those score weighing various columns, Some clusters have clearly become more distinct allowing the machine learning models to have an increased confidence</a:t>
            </a:r>
          </a:p>
          <a:p>
            <a:pPr marL="0" indent="0">
              <a:buNone/>
            </a:pPr>
            <a:r>
              <a:rPr lang="en-US" sz="2200" dirty="0"/>
              <a:t>Less cluster overlap means a higher accuracy.</a:t>
            </a:r>
          </a:p>
        </p:txBody>
      </p:sp>
      <p:sp>
        <p:nvSpPr>
          <p:cNvPr id="5" name="Slide Number Placeholder 4">
            <a:extLst>
              <a:ext uri="{FF2B5EF4-FFF2-40B4-BE49-F238E27FC236}">
                <a16:creationId xmlns:a16="http://schemas.microsoft.com/office/drawing/2014/main" id="{E69CC0ED-65BC-D652-FC25-CBEF59D6DF59}"/>
              </a:ext>
            </a:extLst>
          </p:cNvPr>
          <p:cNvSpPr>
            <a:spLocks noGrp="1"/>
          </p:cNvSpPr>
          <p:nvPr>
            <p:ph type="sldNum" sz="quarter" idx="12"/>
          </p:nvPr>
        </p:nvSpPr>
        <p:spPr/>
        <p:txBody>
          <a:bodyPr/>
          <a:lstStyle/>
          <a:p>
            <a:fld id="{B5CEABB6-07DC-46E8-9B57-56EC44A396E5}" type="slidenum">
              <a:rPr lang="en-US" smtClean="0"/>
              <a:pPr/>
              <a:t>27</a:t>
            </a:fld>
            <a:endParaRPr lang="en-US" dirty="0"/>
          </a:p>
        </p:txBody>
      </p:sp>
      <p:pic>
        <p:nvPicPr>
          <p:cNvPr id="7" name="Picture 6">
            <a:extLst>
              <a:ext uri="{FF2B5EF4-FFF2-40B4-BE49-F238E27FC236}">
                <a16:creationId xmlns:a16="http://schemas.microsoft.com/office/drawing/2014/main" id="{A46108E6-94AC-A9F7-9687-844AF380186C}"/>
              </a:ext>
            </a:extLst>
          </p:cNvPr>
          <p:cNvPicPr>
            <a:picLocks noChangeAspect="1"/>
          </p:cNvPicPr>
          <p:nvPr/>
        </p:nvPicPr>
        <p:blipFill>
          <a:blip r:embed="rId2"/>
          <a:stretch>
            <a:fillRect/>
          </a:stretch>
        </p:blipFill>
        <p:spPr>
          <a:xfrm>
            <a:off x="0" y="1306267"/>
            <a:ext cx="7074264" cy="5607338"/>
          </a:xfrm>
          <a:prstGeom prst="rect">
            <a:avLst/>
          </a:prstGeom>
        </p:spPr>
      </p:pic>
    </p:spTree>
    <p:extLst>
      <p:ext uri="{BB962C8B-B14F-4D97-AF65-F5344CB8AC3E}">
        <p14:creationId xmlns:p14="http://schemas.microsoft.com/office/powerpoint/2010/main" val="13631313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6368EF9-FDB8-BAA6-B69D-F33986A4EC42}"/>
              </a:ext>
            </a:extLst>
          </p:cNvPr>
          <p:cNvSpPr>
            <a:spLocks noGrp="1"/>
          </p:cNvSpPr>
          <p:nvPr>
            <p:ph type="ctrTitle"/>
          </p:nvPr>
        </p:nvSpPr>
        <p:spPr>
          <a:xfrm>
            <a:off x="3015049" y="139700"/>
            <a:ext cx="8440351" cy="3590596"/>
          </a:xfrm>
        </p:spPr>
        <p:txBody>
          <a:bodyPr/>
          <a:lstStyle/>
          <a:p>
            <a:r>
              <a:rPr lang="en-US" dirty="0"/>
              <a:t>Building machine learning models</a:t>
            </a:r>
          </a:p>
        </p:txBody>
      </p:sp>
      <p:sp>
        <p:nvSpPr>
          <p:cNvPr id="5" name="Slide Number Placeholder 4">
            <a:extLst>
              <a:ext uri="{FF2B5EF4-FFF2-40B4-BE49-F238E27FC236}">
                <a16:creationId xmlns:a16="http://schemas.microsoft.com/office/drawing/2014/main" id="{1C03B3EE-6FC3-BECF-13C1-49B7DBBA6CC2}"/>
              </a:ext>
            </a:extLst>
          </p:cNvPr>
          <p:cNvSpPr>
            <a:spLocks noGrp="1"/>
          </p:cNvSpPr>
          <p:nvPr>
            <p:ph type="sldNum" sz="quarter" idx="4294967295"/>
          </p:nvPr>
        </p:nvSpPr>
        <p:spPr>
          <a:xfrm>
            <a:off x="11734800" y="6353175"/>
            <a:ext cx="457200" cy="365125"/>
          </a:xfrm>
        </p:spPr>
        <p:txBody>
          <a:bodyPr/>
          <a:lstStyle/>
          <a:p>
            <a:fld id="{B5CEABB6-07DC-46E8-9B57-56EC44A396E5}" type="slidenum">
              <a:rPr lang="en-US" smtClean="0"/>
              <a:pPr/>
              <a:t>28</a:t>
            </a:fld>
            <a:endParaRPr lang="en-US" dirty="0"/>
          </a:p>
        </p:txBody>
      </p:sp>
    </p:spTree>
    <p:extLst>
      <p:ext uri="{BB962C8B-B14F-4D97-AF65-F5344CB8AC3E}">
        <p14:creationId xmlns:p14="http://schemas.microsoft.com/office/powerpoint/2010/main" val="29750099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B2D2E-8DEE-C18E-7F64-25B08348AAE4}"/>
              </a:ext>
            </a:extLst>
          </p:cNvPr>
          <p:cNvSpPr>
            <a:spLocks noGrp="1"/>
          </p:cNvSpPr>
          <p:nvPr>
            <p:ph type="title"/>
          </p:nvPr>
        </p:nvSpPr>
        <p:spPr>
          <a:xfrm>
            <a:off x="3274541" y="0"/>
            <a:ext cx="8003059" cy="1386982"/>
          </a:xfrm>
        </p:spPr>
        <p:txBody>
          <a:bodyPr/>
          <a:lstStyle/>
          <a:p>
            <a:r>
              <a:rPr lang="en-US" dirty="0"/>
              <a:t>Logistic Regression</a:t>
            </a:r>
          </a:p>
        </p:txBody>
      </p:sp>
      <p:sp>
        <p:nvSpPr>
          <p:cNvPr id="3" name="Content Placeholder 2">
            <a:extLst>
              <a:ext uri="{FF2B5EF4-FFF2-40B4-BE49-F238E27FC236}">
                <a16:creationId xmlns:a16="http://schemas.microsoft.com/office/drawing/2014/main" id="{C4FF63B7-23DC-B896-70AD-D12C60BFDFC1}"/>
              </a:ext>
            </a:extLst>
          </p:cNvPr>
          <p:cNvSpPr>
            <a:spLocks noGrp="1"/>
          </p:cNvSpPr>
          <p:nvPr>
            <p:ph sz="half" idx="14"/>
          </p:nvPr>
        </p:nvSpPr>
        <p:spPr>
          <a:xfrm>
            <a:off x="5507123" y="1644148"/>
            <a:ext cx="6338888" cy="5213852"/>
          </a:xfrm>
        </p:spPr>
        <p:txBody>
          <a:bodyPr>
            <a:normAutofit/>
          </a:bodyPr>
          <a:lstStyle/>
          <a:p>
            <a:r>
              <a:rPr lang="en-US" dirty="0"/>
              <a:t>A linear regression model that predicts a probability that a given input belongs to a class of migraine using the logit function to create a probability and combines them linearly, while using a sigmoid to keep the output as a proportion between 0 and 1.</a:t>
            </a:r>
          </a:p>
          <a:p>
            <a:endParaRPr lang="en-US" dirty="0"/>
          </a:p>
          <a:p>
            <a:r>
              <a:rPr lang="en-US" dirty="0"/>
              <a:t>This model is 86% accurate</a:t>
            </a:r>
          </a:p>
          <a:p>
            <a:r>
              <a:rPr lang="en-US" dirty="0"/>
              <a:t> </a:t>
            </a:r>
          </a:p>
        </p:txBody>
      </p:sp>
      <p:sp>
        <p:nvSpPr>
          <p:cNvPr id="4" name="Slide Number Placeholder 3">
            <a:extLst>
              <a:ext uri="{FF2B5EF4-FFF2-40B4-BE49-F238E27FC236}">
                <a16:creationId xmlns:a16="http://schemas.microsoft.com/office/drawing/2014/main" id="{1A0ED02B-AE11-C56A-DD64-C4711366F2F8}"/>
              </a:ext>
            </a:extLst>
          </p:cNvPr>
          <p:cNvSpPr>
            <a:spLocks noGrp="1"/>
          </p:cNvSpPr>
          <p:nvPr>
            <p:ph type="sldNum" sz="quarter" idx="12"/>
          </p:nvPr>
        </p:nvSpPr>
        <p:spPr/>
        <p:txBody>
          <a:bodyPr/>
          <a:lstStyle/>
          <a:p>
            <a:fld id="{B5CEABB6-07DC-46E8-9B57-56EC44A396E5}" type="slidenum">
              <a:rPr lang="en-US" smtClean="0"/>
              <a:pPr/>
              <a:t>29</a:t>
            </a:fld>
            <a:endParaRPr lang="en-US" dirty="0"/>
          </a:p>
        </p:txBody>
      </p:sp>
      <p:pic>
        <p:nvPicPr>
          <p:cNvPr id="6" name="Picture 5">
            <a:extLst>
              <a:ext uri="{FF2B5EF4-FFF2-40B4-BE49-F238E27FC236}">
                <a16:creationId xmlns:a16="http://schemas.microsoft.com/office/drawing/2014/main" id="{1D62CD4F-C67B-F83B-ED24-E1AE94F411DC}"/>
              </a:ext>
            </a:extLst>
          </p:cNvPr>
          <p:cNvPicPr>
            <a:picLocks noChangeAspect="1"/>
          </p:cNvPicPr>
          <p:nvPr/>
        </p:nvPicPr>
        <p:blipFill>
          <a:blip r:embed="rId2"/>
          <a:stretch>
            <a:fillRect/>
          </a:stretch>
        </p:blipFill>
        <p:spPr>
          <a:xfrm>
            <a:off x="0" y="2868691"/>
            <a:ext cx="5229741" cy="3062552"/>
          </a:xfrm>
          <a:prstGeom prst="rect">
            <a:avLst/>
          </a:prstGeom>
        </p:spPr>
      </p:pic>
    </p:spTree>
    <p:extLst>
      <p:ext uri="{BB962C8B-B14F-4D97-AF65-F5344CB8AC3E}">
        <p14:creationId xmlns:p14="http://schemas.microsoft.com/office/powerpoint/2010/main" val="1466807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F33619E-2847-C24B-72CD-94907EFD6F46}"/>
              </a:ext>
            </a:extLst>
          </p:cNvPr>
          <p:cNvSpPr>
            <a:spLocks noGrp="1"/>
          </p:cNvSpPr>
          <p:nvPr>
            <p:ph type="title"/>
          </p:nvPr>
        </p:nvSpPr>
        <p:spPr>
          <a:xfrm>
            <a:off x="465438" y="117637"/>
            <a:ext cx="6589150" cy="945045"/>
          </a:xfrm>
        </p:spPr>
        <p:txBody>
          <a:bodyPr/>
          <a:lstStyle/>
          <a:p>
            <a:r>
              <a:rPr lang="en-US" dirty="0"/>
              <a:t>Random Forest</a:t>
            </a:r>
          </a:p>
        </p:txBody>
      </p:sp>
      <p:sp>
        <p:nvSpPr>
          <p:cNvPr id="4" name="Slide Number Placeholder 3">
            <a:extLst>
              <a:ext uri="{FF2B5EF4-FFF2-40B4-BE49-F238E27FC236}">
                <a16:creationId xmlns:a16="http://schemas.microsoft.com/office/drawing/2014/main" id="{ADBED801-0587-536B-6100-C720A537E0AD}"/>
              </a:ext>
            </a:extLst>
          </p:cNvPr>
          <p:cNvSpPr>
            <a:spLocks noGrp="1"/>
          </p:cNvSpPr>
          <p:nvPr>
            <p:ph type="sldNum" sz="quarter" idx="12"/>
          </p:nvPr>
        </p:nvSpPr>
        <p:spPr/>
        <p:txBody>
          <a:bodyPr/>
          <a:lstStyle/>
          <a:p>
            <a:fld id="{B5CEABB6-07DC-46E8-9B57-56EC44A396E5}" type="slidenum">
              <a:rPr lang="en-US" smtClean="0"/>
              <a:pPr/>
              <a:t>30</a:t>
            </a:fld>
            <a:endParaRPr lang="en-US" dirty="0"/>
          </a:p>
        </p:txBody>
      </p:sp>
      <p:sp>
        <p:nvSpPr>
          <p:cNvPr id="6" name="Content Placeholder 5">
            <a:extLst>
              <a:ext uri="{FF2B5EF4-FFF2-40B4-BE49-F238E27FC236}">
                <a16:creationId xmlns:a16="http://schemas.microsoft.com/office/drawing/2014/main" id="{55CA6668-1455-5A8B-7FCD-B3D4250D6D36}"/>
              </a:ext>
            </a:extLst>
          </p:cNvPr>
          <p:cNvSpPr>
            <a:spLocks noGrp="1"/>
          </p:cNvSpPr>
          <p:nvPr>
            <p:ph sz="half" idx="14"/>
          </p:nvPr>
        </p:nvSpPr>
        <p:spPr>
          <a:xfrm>
            <a:off x="457216" y="1780903"/>
            <a:ext cx="6597372" cy="3296194"/>
          </a:xfrm>
        </p:spPr>
        <p:txBody>
          <a:bodyPr/>
          <a:lstStyle/>
          <a:p>
            <a:r>
              <a:rPr lang="en-US" dirty="0"/>
              <a:t>A machine learning algorithm that builds multiple decision tress and combines their outputs to make a final prediction.</a:t>
            </a:r>
          </a:p>
          <a:p>
            <a:endParaRPr lang="en-US" dirty="0"/>
          </a:p>
          <a:p>
            <a:r>
              <a:rPr lang="en-US" dirty="0"/>
              <a:t>This model is 95% accurate. But the model is not good a extrapolating outside the training data unlike the logistical regression</a:t>
            </a:r>
          </a:p>
        </p:txBody>
      </p:sp>
      <p:pic>
        <p:nvPicPr>
          <p:cNvPr id="8" name="Picture 7">
            <a:extLst>
              <a:ext uri="{FF2B5EF4-FFF2-40B4-BE49-F238E27FC236}">
                <a16:creationId xmlns:a16="http://schemas.microsoft.com/office/drawing/2014/main" id="{5F9C3CB5-536C-6EE6-E446-4A7412B9B5E3}"/>
              </a:ext>
            </a:extLst>
          </p:cNvPr>
          <p:cNvPicPr>
            <a:picLocks noChangeAspect="1"/>
          </p:cNvPicPr>
          <p:nvPr/>
        </p:nvPicPr>
        <p:blipFill>
          <a:blip r:embed="rId2"/>
          <a:stretch>
            <a:fillRect/>
          </a:stretch>
        </p:blipFill>
        <p:spPr>
          <a:xfrm>
            <a:off x="1285118" y="3869901"/>
            <a:ext cx="5585239" cy="2870462"/>
          </a:xfrm>
          <a:prstGeom prst="rect">
            <a:avLst/>
          </a:prstGeom>
        </p:spPr>
      </p:pic>
    </p:spTree>
    <p:extLst>
      <p:ext uri="{BB962C8B-B14F-4D97-AF65-F5344CB8AC3E}">
        <p14:creationId xmlns:p14="http://schemas.microsoft.com/office/powerpoint/2010/main" val="7059058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37509B-D709-6D55-50DF-EF24944AD473}"/>
              </a:ext>
            </a:extLst>
          </p:cNvPr>
          <p:cNvSpPr>
            <a:spLocks noGrp="1"/>
          </p:cNvSpPr>
          <p:nvPr>
            <p:ph type="ctrTitle"/>
          </p:nvPr>
        </p:nvSpPr>
        <p:spPr>
          <a:xfrm>
            <a:off x="2424579" y="-24434"/>
            <a:ext cx="6449786" cy="1420748"/>
          </a:xfrm>
        </p:spPr>
        <p:txBody>
          <a:bodyPr/>
          <a:lstStyle/>
          <a:p>
            <a:r>
              <a:rPr lang="en-US" dirty="0" err="1"/>
              <a:t>xgboost</a:t>
            </a:r>
            <a:endParaRPr lang="en-US" dirty="0"/>
          </a:p>
        </p:txBody>
      </p:sp>
      <p:sp>
        <p:nvSpPr>
          <p:cNvPr id="6" name="Subtitle 5">
            <a:extLst>
              <a:ext uri="{FF2B5EF4-FFF2-40B4-BE49-F238E27FC236}">
                <a16:creationId xmlns:a16="http://schemas.microsoft.com/office/drawing/2014/main" id="{191181A2-DB3E-003B-3EF7-1D682F977DBC}"/>
              </a:ext>
            </a:extLst>
          </p:cNvPr>
          <p:cNvSpPr>
            <a:spLocks noGrp="1"/>
          </p:cNvSpPr>
          <p:nvPr>
            <p:ph type="subTitle" idx="1"/>
          </p:nvPr>
        </p:nvSpPr>
        <p:spPr>
          <a:xfrm>
            <a:off x="6264875" y="950733"/>
            <a:ext cx="5797533" cy="4956533"/>
          </a:xfrm>
        </p:spPr>
        <p:txBody>
          <a:bodyPr>
            <a:normAutofit fontScale="92500"/>
          </a:bodyPr>
          <a:lstStyle/>
          <a:p>
            <a:r>
              <a:rPr lang="en-US" dirty="0"/>
              <a:t>An upgraded random forest model that will generate trees sequentially, correcting the errors of the previous trees. Also includes regularization to prevent skewing due to complexity. Uses first and second derivatives for optimization. However, if the dataset have a lot of outliers a traditional random forest will be better suited.</a:t>
            </a:r>
          </a:p>
          <a:p>
            <a:r>
              <a:rPr lang="en-US" dirty="0"/>
              <a:t>This model was 95% accurate. </a:t>
            </a:r>
          </a:p>
        </p:txBody>
      </p:sp>
      <p:sp>
        <p:nvSpPr>
          <p:cNvPr id="3" name="Slide Number Placeholder 2">
            <a:extLst>
              <a:ext uri="{FF2B5EF4-FFF2-40B4-BE49-F238E27FC236}">
                <a16:creationId xmlns:a16="http://schemas.microsoft.com/office/drawing/2014/main" id="{FF9777C5-9675-4D89-7EA4-10C665AC0740}"/>
              </a:ext>
            </a:extLst>
          </p:cNvPr>
          <p:cNvSpPr>
            <a:spLocks noGrp="1"/>
          </p:cNvSpPr>
          <p:nvPr>
            <p:ph type="sldNum" sz="quarter" idx="12"/>
          </p:nvPr>
        </p:nvSpPr>
        <p:spPr/>
        <p:txBody>
          <a:bodyPr/>
          <a:lstStyle/>
          <a:p>
            <a:fld id="{B5CEABB6-07DC-46E8-9B57-56EC44A396E5}" type="slidenum">
              <a:rPr lang="en-US" smtClean="0"/>
              <a:pPr/>
              <a:t>31</a:t>
            </a:fld>
            <a:endParaRPr lang="en-US" dirty="0"/>
          </a:p>
        </p:txBody>
      </p:sp>
      <p:pic>
        <p:nvPicPr>
          <p:cNvPr id="8" name="Picture 7">
            <a:extLst>
              <a:ext uri="{FF2B5EF4-FFF2-40B4-BE49-F238E27FC236}">
                <a16:creationId xmlns:a16="http://schemas.microsoft.com/office/drawing/2014/main" id="{9FAEEC87-F153-4DD9-A4E3-17C54938F0A0}"/>
              </a:ext>
            </a:extLst>
          </p:cNvPr>
          <p:cNvPicPr>
            <a:picLocks noChangeAspect="1"/>
          </p:cNvPicPr>
          <p:nvPr/>
        </p:nvPicPr>
        <p:blipFill>
          <a:blip r:embed="rId2"/>
          <a:stretch>
            <a:fillRect/>
          </a:stretch>
        </p:blipFill>
        <p:spPr>
          <a:xfrm>
            <a:off x="0" y="2079075"/>
            <a:ext cx="4285546" cy="2638621"/>
          </a:xfrm>
          <a:prstGeom prst="rect">
            <a:avLst/>
          </a:prstGeom>
        </p:spPr>
      </p:pic>
    </p:spTree>
    <p:extLst>
      <p:ext uri="{BB962C8B-B14F-4D97-AF65-F5344CB8AC3E}">
        <p14:creationId xmlns:p14="http://schemas.microsoft.com/office/powerpoint/2010/main" val="3265664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6E23D2-E90D-7570-05D9-F07CAE079059}"/>
              </a:ext>
            </a:extLst>
          </p:cNvPr>
          <p:cNvSpPr>
            <a:spLocks noGrp="1"/>
          </p:cNvSpPr>
          <p:nvPr>
            <p:ph type="title"/>
          </p:nvPr>
        </p:nvSpPr>
        <p:spPr>
          <a:xfrm>
            <a:off x="2881548" y="136525"/>
            <a:ext cx="7889768" cy="969759"/>
          </a:xfrm>
        </p:spPr>
        <p:txBody>
          <a:bodyPr/>
          <a:lstStyle/>
          <a:p>
            <a:r>
              <a:rPr lang="en-US" dirty="0" err="1"/>
              <a:t>Lightgbm</a:t>
            </a:r>
            <a:endParaRPr lang="en-US" dirty="0"/>
          </a:p>
        </p:txBody>
      </p:sp>
      <p:sp>
        <p:nvSpPr>
          <p:cNvPr id="7" name="Content Placeholder 6">
            <a:extLst>
              <a:ext uri="{FF2B5EF4-FFF2-40B4-BE49-F238E27FC236}">
                <a16:creationId xmlns:a16="http://schemas.microsoft.com/office/drawing/2014/main" id="{9C475DF3-A2B4-1CA1-332B-106278FD3DBD}"/>
              </a:ext>
            </a:extLst>
          </p:cNvPr>
          <p:cNvSpPr>
            <a:spLocks noGrp="1"/>
          </p:cNvSpPr>
          <p:nvPr>
            <p:ph sz="half" idx="14"/>
          </p:nvPr>
        </p:nvSpPr>
        <p:spPr>
          <a:xfrm>
            <a:off x="2881548" y="953823"/>
            <a:ext cx="5658692" cy="3006531"/>
          </a:xfrm>
        </p:spPr>
        <p:txBody>
          <a:bodyPr/>
          <a:lstStyle/>
          <a:p>
            <a:pPr marL="0" indent="0">
              <a:buNone/>
            </a:pPr>
            <a:r>
              <a:rPr lang="en-US" dirty="0"/>
              <a:t>A lightweight </a:t>
            </a:r>
            <a:r>
              <a:rPr lang="en-US" dirty="0" err="1"/>
              <a:t>xgboost</a:t>
            </a:r>
            <a:r>
              <a:rPr lang="en-US" dirty="0"/>
              <a:t> that grows trees in a more precise way that will reduce more error, leading to longer trees that are often more accurate. Uses less memory than typical </a:t>
            </a:r>
            <a:r>
              <a:rPr lang="en-US" dirty="0" err="1"/>
              <a:t>xgboost</a:t>
            </a:r>
            <a:r>
              <a:rPr lang="en-US" dirty="0"/>
              <a:t>.</a:t>
            </a:r>
          </a:p>
          <a:p>
            <a:pPr marL="0" indent="0">
              <a:buNone/>
            </a:pPr>
            <a:endParaRPr lang="en-US" dirty="0"/>
          </a:p>
          <a:p>
            <a:pPr marL="0" indent="0">
              <a:buNone/>
            </a:pPr>
            <a:r>
              <a:rPr lang="en-US" dirty="0"/>
              <a:t>This model is 96% accurate</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7A322596-82ED-2ACD-17E4-B9CA39B9C4B5}"/>
              </a:ext>
            </a:extLst>
          </p:cNvPr>
          <p:cNvSpPr>
            <a:spLocks noGrp="1"/>
          </p:cNvSpPr>
          <p:nvPr>
            <p:ph type="sldNum" sz="quarter" idx="12"/>
          </p:nvPr>
        </p:nvSpPr>
        <p:spPr/>
        <p:txBody>
          <a:bodyPr/>
          <a:lstStyle/>
          <a:p>
            <a:fld id="{B5CEABB6-07DC-46E8-9B57-56EC44A396E5}" type="slidenum">
              <a:rPr lang="en-US" smtClean="0"/>
              <a:pPr/>
              <a:t>32</a:t>
            </a:fld>
            <a:endParaRPr lang="en-US" dirty="0"/>
          </a:p>
        </p:txBody>
      </p:sp>
      <p:pic>
        <p:nvPicPr>
          <p:cNvPr id="9" name="Picture 8">
            <a:extLst>
              <a:ext uri="{FF2B5EF4-FFF2-40B4-BE49-F238E27FC236}">
                <a16:creationId xmlns:a16="http://schemas.microsoft.com/office/drawing/2014/main" id="{8987A48B-9BA2-2ABA-8B21-7DA2E10F8688}"/>
              </a:ext>
            </a:extLst>
          </p:cNvPr>
          <p:cNvPicPr>
            <a:picLocks noChangeAspect="1"/>
          </p:cNvPicPr>
          <p:nvPr/>
        </p:nvPicPr>
        <p:blipFill>
          <a:blip r:embed="rId2"/>
          <a:stretch>
            <a:fillRect/>
          </a:stretch>
        </p:blipFill>
        <p:spPr>
          <a:xfrm>
            <a:off x="7336996" y="3002693"/>
            <a:ext cx="4708308" cy="2767914"/>
          </a:xfrm>
          <a:prstGeom prst="rect">
            <a:avLst/>
          </a:prstGeom>
        </p:spPr>
      </p:pic>
    </p:spTree>
    <p:extLst>
      <p:ext uri="{BB962C8B-B14F-4D97-AF65-F5344CB8AC3E}">
        <p14:creationId xmlns:p14="http://schemas.microsoft.com/office/powerpoint/2010/main" val="42643513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5EB7E-7BB7-E0A2-BE10-751461638BFA}"/>
              </a:ext>
            </a:extLst>
          </p:cNvPr>
          <p:cNvSpPr>
            <a:spLocks noGrp="1"/>
          </p:cNvSpPr>
          <p:nvPr>
            <p:ph type="title"/>
          </p:nvPr>
        </p:nvSpPr>
        <p:spPr>
          <a:xfrm>
            <a:off x="1223319" y="99455"/>
            <a:ext cx="10783329" cy="866589"/>
          </a:xfrm>
        </p:spPr>
        <p:txBody>
          <a:bodyPr/>
          <a:lstStyle/>
          <a:p>
            <a:r>
              <a:rPr lang="en-US" dirty="0"/>
              <a:t>Deep learning neural network</a:t>
            </a:r>
          </a:p>
        </p:txBody>
      </p:sp>
      <p:sp>
        <p:nvSpPr>
          <p:cNvPr id="3" name="Content Placeholder 2">
            <a:extLst>
              <a:ext uri="{FF2B5EF4-FFF2-40B4-BE49-F238E27FC236}">
                <a16:creationId xmlns:a16="http://schemas.microsoft.com/office/drawing/2014/main" id="{DEC2DA21-6A2C-DB06-2A9C-26C4C203D007}"/>
              </a:ext>
            </a:extLst>
          </p:cNvPr>
          <p:cNvSpPr>
            <a:spLocks noGrp="1"/>
          </p:cNvSpPr>
          <p:nvPr>
            <p:ph sz="half" idx="14"/>
          </p:nvPr>
        </p:nvSpPr>
        <p:spPr>
          <a:xfrm>
            <a:off x="4357944" y="1310515"/>
            <a:ext cx="7648703" cy="3545690"/>
          </a:xfrm>
        </p:spPr>
        <p:txBody>
          <a:bodyPr>
            <a:normAutofit/>
          </a:bodyPr>
          <a:lstStyle/>
          <a:p>
            <a:r>
              <a:rPr lang="en-US" dirty="0"/>
              <a:t>A model inspired by how the human brain processes information. A system of nodes that act as neurons that receive input and transform it to more nodes forming an output.</a:t>
            </a:r>
          </a:p>
          <a:p>
            <a:endParaRPr lang="en-US" dirty="0"/>
          </a:p>
          <a:p>
            <a:r>
              <a:rPr lang="en-US" dirty="0"/>
              <a:t>This model is 90% accurate.</a:t>
            </a:r>
          </a:p>
        </p:txBody>
      </p:sp>
      <p:sp>
        <p:nvSpPr>
          <p:cNvPr id="4" name="Slide Number Placeholder 3">
            <a:extLst>
              <a:ext uri="{FF2B5EF4-FFF2-40B4-BE49-F238E27FC236}">
                <a16:creationId xmlns:a16="http://schemas.microsoft.com/office/drawing/2014/main" id="{BDD5F953-DA4A-5614-FFBF-8D295DF087FD}"/>
              </a:ext>
            </a:extLst>
          </p:cNvPr>
          <p:cNvSpPr>
            <a:spLocks noGrp="1"/>
          </p:cNvSpPr>
          <p:nvPr>
            <p:ph type="sldNum" sz="quarter" idx="12"/>
          </p:nvPr>
        </p:nvSpPr>
        <p:spPr/>
        <p:txBody>
          <a:bodyPr/>
          <a:lstStyle/>
          <a:p>
            <a:fld id="{B5CEABB6-07DC-46E8-9B57-56EC44A396E5}" type="slidenum">
              <a:rPr lang="en-US" smtClean="0"/>
              <a:pPr/>
              <a:t>33</a:t>
            </a:fld>
            <a:endParaRPr lang="en-US" dirty="0"/>
          </a:p>
        </p:txBody>
      </p:sp>
      <p:pic>
        <p:nvPicPr>
          <p:cNvPr id="6" name="Picture 5">
            <a:extLst>
              <a:ext uri="{FF2B5EF4-FFF2-40B4-BE49-F238E27FC236}">
                <a16:creationId xmlns:a16="http://schemas.microsoft.com/office/drawing/2014/main" id="{62E8B764-1797-B0E6-EF12-4A09C56061A0}"/>
              </a:ext>
            </a:extLst>
          </p:cNvPr>
          <p:cNvPicPr>
            <a:picLocks noChangeAspect="1"/>
          </p:cNvPicPr>
          <p:nvPr/>
        </p:nvPicPr>
        <p:blipFill>
          <a:blip r:embed="rId2"/>
          <a:stretch>
            <a:fillRect/>
          </a:stretch>
        </p:blipFill>
        <p:spPr>
          <a:xfrm>
            <a:off x="0" y="4052625"/>
            <a:ext cx="4209647" cy="2539704"/>
          </a:xfrm>
          <a:prstGeom prst="rect">
            <a:avLst/>
          </a:prstGeom>
        </p:spPr>
      </p:pic>
    </p:spTree>
    <p:extLst>
      <p:ext uri="{BB962C8B-B14F-4D97-AF65-F5344CB8AC3E}">
        <p14:creationId xmlns:p14="http://schemas.microsoft.com/office/powerpoint/2010/main" val="38271962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C97DB-2978-AD1B-7FB7-9BD0908F54FA}"/>
              </a:ext>
            </a:extLst>
          </p:cNvPr>
          <p:cNvSpPr>
            <a:spLocks noGrp="1"/>
          </p:cNvSpPr>
          <p:nvPr>
            <p:ph type="title"/>
          </p:nvPr>
        </p:nvSpPr>
        <p:spPr>
          <a:xfrm>
            <a:off x="354228" y="105280"/>
            <a:ext cx="6589150" cy="895618"/>
          </a:xfrm>
        </p:spPr>
        <p:txBody>
          <a:bodyPr/>
          <a:lstStyle/>
          <a:p>
            <a:r>
              <a:rPr lang="en-US" dirty="0"/>
              <a:t>Model optimization</a:t>
            </a:r>
          </a:p>
        </p:txBody>
      </p:sp>
      <p:sp>
        <p:nvSpPr>
          <p:cNvPr id="3" name="Slide Number Placeholder 2">
            <a:extLst>
              <a:ext uri="{FF2B5EF4-FFF2-40B4-BE49-F238E27FC236}">
                <a16:creationId xmlns:a16="http://schemas.microsoft.com/office/drawing/2014/main" id="{15524969-3DB7-6219-44E6-25DD27EC05AE}"/>
              </a:ext>
            </a:extLst>
          </p:cNvPr>
          <p:cNvSpPr>
            <a:spLocks noGrp="1"/>
          </p:cNvSpPr>
          <p:nvPr>
            <p:ph type="sldNum" sz="quarter" idx="12"/>
          </p:nvPr>
        </p:nvSpPr>
        <p:spPr/>
        <p:txBody>
          <a:bodyPr/>
          <a:lstStyle/>
          <a:p>
            <a:fld id="{B5CEABB6-07DC-46E8-9B57-56EC44A396E5}" type="slidenum">
              <a:rPr lang="en-US" smtClean="0"/>
              <a:pPr/>
              <a:t>34</a:t>
            </a:fld>
            <a:endParaRPr lang="en-US" dirty="0"/>
          </a:p>
        </p:txBody>
      </p:sp>
      <p:sp>
        <p:nvSpPr>
          <p:cNvPr id="4" name="Content Placeholder 3">
            <a:extLst>
              <a:ext uri="{FF2B5EF4-FFF2-40B4-BE49-F238E27FC236}">
                <a16:creationId xmlns:a16="http://schemas.microsoft.com/office/drawing/2014/main" id="{BCDEE16C-8697-C0BA-0B6B-AF2D29AC4272}"/>
              </a:ext>
            </a:extLst>
          </p:cNvPr>
          <p:cNvSpPr>
            <a:spLocks noGrp="1"/>
          </p:cNvSpPr>
          <p:nvPr>
            <p:ph sz="half" idx="14"/>
          </p:nvPr>
        </p:nvSpPr>
        <p:spPr>
          <a:xfrm>
            <a:off x="172994" y="1053707"/>
            <a:ext cx="5923006" cy="5666497"/>
          </a:xfrm>
        </p:spPr>
        <p:txBody>
          <a:bodyPr>
            <a:normAutofit/>
          </a:bodyPr>
          <a:lstStyle/>
          <a:p>
            <a:r>
              <a:rPr lang="en-US" dirty="0"/>
              <a:t>Using </a:t>
            </a:r>
            <a:r>
              <a:rPr lang="en-US" dirty="0" err="1"/>
              <a:t>Optuna</a:t>
            </a:r>
            <a:r>
              <a:rPr lang="en-US" dirty="0"/>
              <a:t> all models were fine tuned for slightly better accuracy and efficiency. </a:t>
            </a:r>
            <a:r>
              <a:rPr lang="en-US" dirty="0" err="1"/>
              <a:t>Oputna</a:t>
            </a:r>
            <a:r>
              <a:rPr lang="en-US" dirty="0"/>
              <a:t> was limited from running its full optimization study due to computation and time constrains, however all models did marginally improve. All </a:t>
            </a:r>
            <a:r>
              <a:rPr lang="en-US" dirty="0" err="1"/>
              <a:t>Optuna</a:t>
            </a:r>
            <a:r>
              <a:rPr lang="en-US" dirty="0"/>
              <a:t> values are shown to the size for comparison to original training values.</a:t>
            </a:r>
          </a:p>
          <a:p>
            <a:r>
              <a:rPr lang="en-US" dirty="0"/>
              <a:t>After optimization:</a:t>
            </a:r>
          </a:p>
          <a:p>
            <a:r>
              <a:rPr lang="en-US" dirty="0"/>
              <a:t>	Random Forest performed the same</a:t>
            </a:r>
          </a:p>
          <a:p>
            <a:r>
              <a:rPr lang="en-US" dirty="0"/>
              <a:t>	Logistic Regression performed the same</a:t>
            </a:r>
          </a:p>
          <a:p>
            <a:r>
              <a:rPr lang="en-US" dirty="0"/>
              <a:t>	XGB performed the same</a:t>
            </a:r>
          </a:p>
          <a:p>
            <a:r>
              <a:rPr lang="en-US" dirty="0"/>
              <a:t>	</a:t>
            </a:r>
            <a:r>
              <a:rPr lang="en-US" dirty="0" err="1"/>
              <a:t>LightGBM</a:t>
            </a:r>
            <a:r>
              <a:rPr lang="en-US" dirty="0"/>
              <a:t> increased in accuracy by 1%</a:t>
            </a:r>
          </a:p>
          <a:p>
            <a:r>
              <a:rPr lang="en-US" dirty="0"/>
              <a:t>	Neural Network increased in accuracy by 2%</a:t>
            </a:r>
          </a:p>
          <a:p>
            <a:r>
              <a:rPr lang="en-US" dirty="0"/>
              <a:t>Further research can be done by unleashing </a:t>
            </a:r>
            <a:r>
              <a:rPr lang="en-US" dirty="0" err="1"/>
              <a:t>Optuna</a:t>
            </a:r>
            <a:r>
              <a:rPr lang="en-US" dirty="0"/>
              <a:t> on these models on a more sophisticated server with ample time.</a:t>
            </a:r>
          </a:p>
        </p:txBody>
      </p:sp>
      <p:pic>
        <p:nvPicPr>
          <p:cNvPr id="10" name="Picture 9">
            <a:extLst>
              <a:ext uri="{FF2B5EF4-FFF2-40B4-BE49-F238E27FC236}">
                <a16:creationId xmlns:a16="http://schemas.microsoft.com/office/drawing/2014/main" id="{5B25B9F1-A928-BC54-D050-0804571CBB57}"/>
              </a:ext>
            </a:extLst>
          </p:cNvPr>
          <p:cNvPicPr>
            <a:picLocks noChangeAspect="1"/>
          </p:cNvPicPr>
          <p:nvPr/>
        </p:nvPicPr>
        <p:blipFill>
          <a:blip r:embed="rId2"/>
          <a:stretch>
            <a:fillRect/>
          </a:stretch>
        </p:blipFill>
        <p:spPr>
          <a:xfrm>
            <a:off x="9199010" y="-83002"/>
            <a:ext cx="3086259" cy="2273417"/>
          </a:xfrm>
          <a:prstGeom prst="rect">
            <a:avLst/>
          </a:prstGeom>
        </p:spPr>
      </p:pic>
      <p:pic>
        <p:nvPicPr>
          <p:cNvPr id="12" name="Picture 11">
            <a:extLst>
              <a:ext uri="{FF2B5EF4-FFF2-40B4-BE49-F238E27FC236}">
                <a16:creationId xmlns:a16="http://schemas.microsoft.com/office/drawing/2014/main" id="{5781BAF2-2F10-BA43-D5D2-69D59DB6BDEE}"/>
              </a:ext>
            </a:extLst>
          </p:cNvPr>
          <p:cNvPicPr>
            <a:picLocks noChangeAspect="1"/>
          </p:cNvPicPr>
          <p:nvPr/>
        </p:nvPicPr>
        <p:blipFill>
          <a:blip r:embed="rId3"/>
          <a:stretch>
            <a:fillRect/>
          </a:stretch>
        </p:blipFill>
        <p:spPr>
          <a:xfrm>
            <a:off x="9224411" y="2190415"/>
            <a:ext cx="3035456" cy="2178162"/>
          </a:xfrm>
          <a:prstGeom prst="rect">
            <a:avLst/>
          </a:prstGeom>
        </p:spPr>
      </p:pic>
      <p:pic>
        <p:nvPicPr>
          <p:cNvPr id="14" name="Picture 13">
            <a:extLst>
              <a:ext uri="{FF2B5EF4-FFF2-40B4-BE49-F238E27FC236}">
                <a16:creationId xmlns:a16="http://schemas.microsoft.com/office/drawing/2014/main" id="{C5473ACB-CEF5-82A0-14F0-41834CBC10D1}"/>
              </a:ext>
            </a:extLst>
          </p:cNvPr>
          <p:cNvPicPr>
            <a:picLocks noChangeAspect="1"/>
          </p:cNvPicPr>
          <p:nvPr/>
        </p:nvPicPr>
        <p:blipFill>
          <a:blip r:embed="rId4"/>
          <a:stretch>
            <a:fillRect/>
          </a:stretch>
        </p:blipFill>
        <p:spPr>
          <a:xfrm>
            <a:off x="9224411" y="4368577"/>
            <a:ext cx="3029105" cy="2101958"/>
          </a:xfrm>
          <a:prstGeom prst="rect">
            <a:avLst/>
          </a:prstGeom>
        </p:spPr>
      </p:pic>
      <p:pic>
        <p:nvPicPr>
          <p:cNvPr id="16" name="Picture 15">
            <a:extLst>
              <a:ext uri="{FF2B5EF4-FFF2-40B4-BE49-F238E27FC236}">
                <a16:creationId xmlns:a16="http://schemas.microsoft.com/office/drawing/2014/main" id="{AB2CAE68-66A4-845A-4939-4FA0AC129184}"/>
              </a:ext>
            </a:extLst>
          </p:cNvPr>
          <p:cNvPicPr>
            <a:picLocks noChangeAspect="1"/>
          </p:cNvPicPr>
          <p:nvPr/>
        </p:nvPicPr>
        <p:blipFill>
          <a:blip r:embed="rId5"/>
          <a:stretch>
            <a:fillRect/>
          </a:stretch>
        </p:blipFill>
        <p:spPr>
          <a:xfrm>
            <a:off x="6059924" y="870715"/>
            <a:ext cx="3200564" cy="2140060"/>
          </a:xfrm>
          <a:prstGeom prst="rect">
            <a:avLst/>
          </a:prstGeom>
        </p:spPr>
      </p:pic>
      <p:pic>
        <p:nvPicPr>
          <p:cNvPr id="18" name="Picture 17">
            <a:extLst>
              <a:ext uri="{FF2B5EF4-FFF2-40B4-BE49-F238E27FC236}">
                <a16:creationId xmlns:a16="http://schemas.microsoft.com/office/drawing/2014/main" id="{CB6B500A-D59C-DFA4-3AD3-C5E34E8BC198}"/>
              </a:ext>
            </a:extLst>
          </p:cNvPr>
          <p:cNvPicPr>
            <a:picLocks noChangeAspect="1"/>
          </p:cNvPicPr>
          <p:nvPr/>
        </p:nvPicPr>
        <p:blipFill>
          <a:blip r:embed="rId6"/>
          <a:stretch>
            <a:fillRect/>
          </a:stretch>
        </p:blipFill>
        <p:spPr>
          <a:xfrm>
            <a:off x="6059923" y="3010775"/>
            <a:ext cx="3173001" cy="2190863"/>
          </a:xfrm>
          <a:prstGeom prst="rect">
            <a:avLst/>
          </a:prstGeom>
        </p:spPr>
      </p:pic>
    </p:spTree>
    <p:extLst>
      <p:ext uri="{BB962C8B-B14F-4D97-AF65-F5344CB8AC3E}">
        <p14:creationId xmlns:p14="http://schemas.microsoft.com/office/powerpoint/2010/main" val="23284677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16E15-D092-EBA2-2F78-DFBDF80DD3B7}"/>
              </a:ext>
            </a:extLst>
          </p:cNvPr>
          <p:cNvSpPr>
            <a:spLocks noGrp="1"/>
          </p:cNvSpPr>
          <p:nvPr>
            <p:ph type="ctrTitle"/>
          </p:nvPr>
        </p:nvSpPr>
        <p:spPr>
          <a:xfrm>
            <a:off x="1902942" y="576943"/>
            <a:ext cx="9521616" cy="1165360"/>
          </a:xfrm>
        </p:spPr>
        <p:txBody>
          <a:bodyPr>
            <a:normAutofit fontScale="90000"/>
          </a:bodyPr>
          <a:lstStyle/>
          <a:p>
            <a:r>
              <a:rPr lang="en-US" dirty="0"/>
              <a:t>Cross validation and grid searching</a:t>
            </a:r>
          </a:p>
        </p:txBody>
      </p:sp>
      <p:sp>
        <p:nvSpPr>
          <p:cNvPr id="3" name="Subtitle 2">
            <a:extLst>
              <a:ext uri="{FF2B5EF4-FFF2-40B4-BE49-F238E27FC236}">
                <a16:creationId xmlns:a16="http://schemas.microsoft.com/office/drawing/2014/main" id="{6731C74D-50E6-80A8-C973-BE16AB6C4DCE}"/>
              </a:ext>
            </a:extLst>
          </p:cNvPr>
          <p:cNvSpPr>
            <a:spLocks noGrp="1"/>
          </p:cNvSpPr>
          <p:nvPr>
            <p:ph type="subTitle" idx="1"/>
          </p:nvPr>
        </p:nvSpPr>
        <p:spPr>
          <a:xfrm>
            <a:off x="4689243" y="1830212"/>
            <a:ext cx="7086746" cy="3174273"/>
          </a:xfrm>
        </p:spPr>
        <p:txBody>
          <a:bodyPr>
            <a:normAutofit fontScale="92500"/>
          </a:bodyPr>
          <a:lstStyle/>
          <a:p>
            <a:r>
              <a:rPr lang="en-US" dirty="0"/>
              <a:t>To ensure the models are not guessing and can preform well on unseen data that it hasn’t trained on further testing was warranted. Both these methods combined makes the models more robust and squeezes out extra performance forging  well-tuned, high-performing, trustworthy models.</a:t>
            </a:r>
          </a:p>
        </p:txBody>
      </p:sp>
      <p:sp>
        <p:nvSpPr>
          <p:cNvPr id="4" name="Slide Number Placeholder 3">
            <a:extLst>
              <a:ext uri="{FF2B5EF4-FFF2-40B4-BE49-F238E27FC236}">
                <a16:creationId xmlns:a16="http://schemas.microsoft.com/office/drawing/2014/main" id="{3FC64A45-A997-9D58-549B-59D78AB338AA}"/>
              </a:ext>
            </a:extLst>
          </p:cNvPr>
          <p:cNvSpPr>
            <a:spLocks noGrp="1"/>
          </p:cNvSpPr>
          <p:nvPr>
            <p:ph type="sldNum" sz="quarter" idx="12"/>
          </p:nvPr>
        </p:nvSpPr>
        <p:spPr/>
        <p:txBody>
          <a:bodyPr/>
          <a:lstStyle/>
          <a:p>
            <a:fld id="{B5CEABB6-07DC-46E8-9B57-56EC44A396E5}" type="slidenum">
              <a:rPr lang="en-US" smtClean="0"/>
              <a:pPr/>
              <a:t>35</a:t>
            </a:fld>
            <a:endParaRPr lang="en-US" dirty="0"/>
          </a:p>
        </p:txBody>
      </p:sp>
    </p:spTree>
    <p:extLst>
      <p:ext uri="{BB962C8B-B14F-4D97-AF65-F5344CB8AC3E}">
        <p14:creationId xmlns:p14="http://schemas.microsoft.com/office/powerpoint/2010/main" val="2489182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B1E90-5C4E-7EDE-BB8A-5BC5074101CF}"/>
              </a:ext>
            </a:extLst>
          </p:cNvPr>
          <p:cNvSpPr>
            <a:spLocks noGrp="1"/>
          </p:cNvSpPr>
          <p:nvPr>
            <p:ph type="title"/>
          </p:nvPr>
        </p:nvSpPr>
        <p:spPr>
          <a:xfrm>
            <a:off x="4933950" y="429462"/>
            <a:ext cx="6343650" cy="596150"/>
          </a:xfrm>
        </p:spPr>
        <p:txBody>
          <a:bodyPr>
            <a:normAutofit fontScale="90000"/>
          </a:bodyPr>
          <a:lstStyle/>
          <a:p>
            <a:r>
              <a:rPr lang="en-US" dirty="0"/>
              <a:t>Model evaluation</a:t>
            </a:r>
          </a:p>
        </p:txBody>
      </p:sp>
      <p:sp>
        <p:nvSpPr>
          <p:cNvPr id="3" name="Content Placeholder 2">
            <a:extLst>
              <a:ext uri="{FF2B5EF4-FFF2-40B4-BE49-F238E27FC236}">
                <a16:creationId xmlns:a16="http://schemas.microsoft.com/office/drawing/2014/main" id="{0A9E1C69-FF98-B935-87B9-BC7C86934FBB}"/>
              </a:ext>
            </a:extLst>
          </p:cNvPr>
          <p:cNvSpPr>
            <a:spLocks noGrp="1"/>
          </p:cNvSpPr>
          <p:nvPr>
            <p:ph sz="half" idx="14"/>
          </p:nvPr>
        </p:nvSpPr>
        <p:spPr>
          <a:xfrm>
            <a:off x="5605976" y="1224018"/>
            <a:ext cx="6338888" cy="2668463"/>
          </a:xfrm>
        </p:spPr>
        <p:txBody>
          <a:bodyPr>
            <a:normAutofit lnSpcReduction="10000"/>
          </a:bodyPr>
          <a:lstStyle/>
          <a:p>
            <a:pPr marL="0" indent="0">
              <a:buNone/>
            </a:pPr>
            <a:r>
              <a:rPr lang="en-US" dirty="0"/>
              <a:t>By revisiting feature importance after all the models have completed training and testing one can see what data columns are seen as the most valuable by all the different models</a:t>
            </a:r>
          </a:p>
        </p:txBody>
      </p:sp>
      <p:sp>
        <p:nvSpPr>
          <p:cNvPr id="5" name="Slide Number Placeholder 4">
            <a:extLst>
              <a:ext uri="{FF2B5EF4-FFF2-40B4-BE49-F238E27FC236}">
                <a16:creationId xmlns:a16="http://schemas.microsoft.com/office/drawing/2014/main" id="{67E5622B-2DBB-0F89-5927-80FEE8560341}"/>
              </a:ext>
            </a:extLst>
          </p:cNvPr>
          <p:cNvSpPr>
            <a:spLocks noGrp="1"/>
          </p:cNvSpPr>
          <p:nvPr>
            <p:ph type="sldNum" sz="quarter" idx="12"/>
          </p:nvPr>
        </p:nvSpPr>
        <p:spPr/>
        <p:txBody>
          <a:bodyPr/>
          <a:lstStyle/>
          <a:p>
            <a:fld id="{B5CEABB6-07DC-46E8-9B57-56EC44A396E5}" type="slidenum">
              <a:rPr lang="en-US" smtClean="0"/>
              <a:pPr/>
              <a:t>36</a:t>
            </a:fld>
            <a:endParaRPr lang="en-US" dirty="0"/>
          </a:p>
        </p:txBody>
      </p:sp>
      <p:pic>
        <p:nvPicPr>
          <p:cNvPr id="10" name="Picture 9">
            <a:extLst>
              <a:ext uri="{FF2B5EF4-FFF2-40B4-BE49-F238E27FC236}">
                <a16:creationId xmlns:a16="http://schemas.microsoft.com/office/drawing/2014/main" id="{13D8B1DD-129E-9D89-838F-CCBCD6549FC4}"/>
              </a:ext>
            </a:extLst>
          </p:cNvPr>
          <p:cNvPicPr>
            <a:picLocks noChangeAspect="1"/>
          </p:cNvPicPr>
          <p:nvPr/>
        </p:nvPicPr>
        <p:blipFill>
          <a:blip r:embed="rId2"/>
          <a:stretch>
            <a:fillRect/>
          </a:stretch>
        </p:blipFill>
        <p:spPr>
          <a:xfrm>
            <a:off x="1" y="2558249"/>
            <a:ext cx="5605976" cy="4388327"/>
          </a:xfrm>
          <a:prstGeom prst="rect">
            <a:avLst/>
          </a:prstGeom>
        </p:spPr>
      </p:pic>
    </p:spTree>
    <p:extLst>
      <p:ext uri="{BB962C8B-B14F-4D97-AF65-F5344CB8AC3E}">
        <p14:creationId xmlns:p14="http://schemas.microsoft.com/office/powerpoint/2010/main" val="4054853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759B3-9AA6-786B-D2A9-76BB70F4DBF0}"/>
              </a:ext>
            </a:extLst>
          </p:cNvPr>
          <p:cNvSpPr>
            <a:spLocks noGrp="1"/>
          </p:cNvSpPr>
          <p:nvPr>
            <p:ph type="title"/>
          </p:nvPr>
        </p:nvSpPr>
        <p:spPr/>
        <p:txBody>
          <a:bodyPr/>
          <a:lstStyle/>
          <a:p>
            <a:r>
              <a:rPr lang="en-US" dirty="0"/>
              <a:t>Model evaluation (cont.)</a:t>
            </a:r>
          </a:p>
        </p:txBody>
      </p:sp>
      <p:sp>
        <p:nvSpPr>
          <p:cNvPr id="3" name="Content Placeholder 2">
            <a:extLst>
              <a:ext uri="{FF2B5EF4-FFF2-40B4-BE49-F238E27FC236}">
                <a16:creationId xmlns:a16="http://schemas.microsoft.com/office/drawing/2014/main" id="{F57712E0-A99B-29E4-7C7F-1773C3C7986B}"/>
              </a:ext>
            </a:extLst>
          </p:cNvPr>
          <p:cNvSpPr>
            <a:spLocks noGrp="1"/>
          </p:cNvSpPr>
          <p:nvPr>
            <p:ph sz="half" idx="14"/>
          </p:nvPr>
        </p:nvSpPr>
        <p:spPr/>
        <p:txBody>
          <a:bodyPr/>
          <a:lstStyle/>
          <a:p>
            <a:endParaRPr lang="en-US"/>
          </a:p>
        </p:txBody>
      </p:sp>
      <p:sp>
        <p:nvSpPr>
          <p:cNvPr id="4" name="Content Placeholder 3">
            <a:extLst>
              <a:ext uri="{FF2B5EF4-FFF2-40B4-BE49-F238E27FC236}">
                <a16:creationId xmlns:a16="http://schemas.microsoft.com/office/drawing/2014/main" id="{9FE6D86C-725F-7F37-3C30-CF026A7847EF}"/>
              </a:ext>
            </a:extLst>
          </p:cNvPr>
          <p:cNvSpPr>
            <a:spLocks noGrp="1"/>
          </p:cNvSpPr>
          <p:nvPr>
            <p:ph sz="half" idx="1"/>
          </p:nvPr>
        </p:nvSpPr>
        <p:spPr/>
        <p:txBody>
          <a:bodyPr/>
          <a:lstStyle/>
          <a:p>
            <a:endParaRPr lang="en-US"/>
          </a:p>
        </p:txBody>
      </p:sp>
      <p:sp>
        <p:nvSpPr>
          <p:cNvPr id="5" name="Slide Number Placeholder 4">
            <a:extLst>
              <a:ext uri="{FF2B5EF4-FFF2-40B4-BE49-F238E27FC236}">
                <a16:creationId xmlns:a16="http://schemas.microsoft.com/office/drawing/2014/main" id="{6ADE9ADF-6D77-283E-D6D4-F237FD545348}"/>
              </a:ext>
            </a:extLst>
          </p:cNvPr>
          <p:cNvSpPr>
            <a:spLocks noGrp="1"/>
          </p:cNvSpPr>
          <p:nvPr>
            <p:ph type="sldNum" sz="quarter" idx="12"/>
          </p:nvPr>
        </p:nvSpPr>
        <p:spPr/>
        <p:txBody>
          <a:bodyPr/>
          <a:lstStyle/>
          <a:p>
            <a:fld id="{B5CEABB6-07DC-46E8-9B57-56EC44A396E5}" type="slidenum">
              <a:rPr lang="en-US" smtClean="0"/>
              <a:pPr/>
              <a:t>37</a:t>
            </a:fld>
            <a:endParaRPr lang="en-US" dirty="0"/>
          </a:p>
        </p:txBody>
      </p:sp>
      <p:pic>
        <p:nvPicPr>
          <p:cNvPr id="6" name="Picture 5">
            <a:extLst>
              <a:ext uri="{FF2B5EF4-FFF2-40B4-BE49-F238E27FC236}">
                <a16:creationId xmlns:a16="http://schemas.microsoft.com/office/drawing/2014/main" id="{70A6EA49-AF39-368B-7589-42FC220F4957}"/>
              </a:ext>
            </a:extLst>
          </p:cNvPr>
          <p:cNvPicPr>
            <a:picLocks noChangeAspect="1"/>
          </p:cNvPicPr>
          <p:nvPr/>
        </p:nvPicPr>
        <p:blipFill>
          <a:blip r:embed="rId2"/>
          <a:stretch>
            <a:fillRect/>
          </a:stretch>
        </p:blipFill>
        <p:spPr>
          <a:xfrm>
            <a:off x="0" y="2213725"/>
            <a:ext cx="6077262" cy="4730993"/>
          </a:xfrm>
          <a:prstGeom prst="rect">
            <a:avLst/>
          </a:prstGeom>
        </p:spPr>
      </p:pic>
      <p:pic>
        <p:nvPicPr>
          <p:cNvPr id="10" name="Picture 9">
            <a:extLst>
              <a:ext uri="{FF2B5EF4-FFF2-40B4-BE49-F238E27FC236}">
                <a16:creationId xmlns:a16="http://schemas.microsoft.com/office/drawing/2014/main" id="{5679B232-16EF-4E82-C5D1-73DD6E316C78}"/>
              </a:ext>
            </a:extLst>
          </p:cNvPr>
          <p:cNvPicPr>
            <a:picLocks noChangeAspect="1"/>
          </p:cNvPicPr>
          <p:nvPr/>
        </p:nvPicPr>
        <p:blipFill>
          <a:blip r:embed="rId3"/>
          <a:stretch>
            <a:fillRect/>
          </a:stretch>
        </p:blipFill>
        <p:spPr>
          <a:xfrm>
            <a:off x="6032183" y="2213725"/>
            <a:ext cx="6159817" cy="4730993"/>
          </a:xfrm>
          <a:prstGeom prst="rect">
            <a:avLst/>
          </a:prstGeom>
        </p:spPr>
      </p:pic>
    </p:spTree>
    <p:extLst>
      <p:ext uri="{BB962C8B-B14F-4D97-AF65-F5344CB8AC3E}">
        <p14:creationId xmlns:p14="http://schemas.microsoft.com/office/powerpoint/2010/main" val="41608801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AC48375-A0EF-6143-7EBE-3FFDB491C11D}"/>
              </a:ext>
            </a:extLst>
          </p:cNvPr>
          <p:cNvSpPr>
            <a:spLocks noGrp="1"/>
          </p:cNvSpPr>
          <p:nvPr>
            <p:ph type="title"/>
          </p:nvPr>
        </p:nvSpPr>
        <p:spPr>
          <a:xfrm>
            <a:off x="762001" y="896112"/>
            <a:ext cx="6589150" cy="870904"/>
          </a:xfrm>
        </p:spPr>
        <p:txBody>
          <a:bodyPr>
            <a:normAutofit fontScale="90000"/>
          </a:bodyPr>
          <a:lstStyle/>
          <a:p>
            <a:r>
              <a:rPr lang="en-US" dirty="0"/>
              <a:t>Model evaluation (cont.)</a:t>
            </a:r>
          </a:p>
        </p:txBody>
      </p:sp>
      <p:sp>
        <p:nvSpPr>
          <p:cNvPr id="5" name="Slide Number Placeholder 4">
            <a:extLst>
              <a:ext uri="{FF2B5EF4-FFF2-40B4-BE49-F238E27FC236}">
                <a16:creationId xmlns:a16="http://schemas.microsoft.com/office/drawing/2014/main" id="{D68E4DC9-834F-7662-27A8-5F1E4A16CE73}"/>
              </a:ext>
            </a:extLst>
          </p:cNvPr>
          <p:cNvSpPr>
            <a:spLocks noGrp="1"/>
          </p:cNvSpPr>
          <p:nvPr>
            <p:ph type="sldNum" sz="quarter" idx="12"/>
          </p:nvPr>
        </p:nvSpPr>
        <p:spPr/>
        <p:txBody>
          <a:bodyPr/>
          <a:lstStyle/>
          <a:p>
            <a:fld id="{B5CEABB6-07DC-46E8-9B57-56EC44A396E5}" type="slidenum">
              <a:rPr lang="en-US" smtClean="0"/>
              <a:pPr/>
              <a:t>38</a:t>
            </a:fld>
            <a:endParaRPr lang="en-US" dirty="0"/>
          </a:p>
        </p:txBody>
      </p:sp>
      <p:sp>
        <p:nvSpPr>
          <p:cNvPr id="7" name="Content Placeholder 6">
            <a:extLst>
              <a:ext uri="{FF2B5EF4-FFF2-40B4-BE49-F238E27FC236}">
                <a16:creationId xmlns:a16="http://schemas.microsoft.com/office/drawing/2014/main" id="{910FC5C2-4068-5F20-9BD4-0B5C13F9FAFB}"/>
              </a:ext>
            </a:extLst>
          </p:cNvPr>
          <p:cNvSpPr>
            <a:spLocks noGrp="1"/>
          </p:cNvSpPr>
          <p:nvPr>
            <p:ph sz="half" idx="14"/>
          </p:nvPr>
        </p:nvSpPr>
        <p:spPr/>
        <p:txBody>
          <a:bodyPr/>
          <a:lstStyle/>
          <a:p>
            <a:endParaRPr lang="en-US"/>
          </a:p>
        </p:txBody>
      </p:sp>
      <p:pic>
        <p:nvPicPr>
          <p:cNvPr id="9" name="Picture 8">
            <a:extLst>
              <a:ext uri="{FF2B5EF4-FFF2-40B4-BE49-F238E27FC236}">
                <a16:creationId xmlns:a16="http://schemas.microsoft.com/office/drawing/2014/main" id="{04AAE5C1-019C-DEDD-117A-80B100890CA6}"/>
              </a:ext>
            </a:extLst>
          </p:cNvPr>
          <p:cNvPicPr>
            <a:picLocks noChangeAspect="1"/>
          </p:cNvPicPr>
          <p:nvPr/>
        </p:nvPicPr>
        <p:blipFill>
          <a:blip r:embed="rId2"/>
          <a:stretch>
            <a:fillRect/>
          </a:stretch>
        </p:blipFill>
        <p:spPr>
          <a:xfrm>
            <a:off x="0" y="2397211"/>
            <a:ext cx="6096000" cy="4580019"/>
          </a:xfrm>
          <a:prstGeom prst="rect">
            <a:avLst/>
          </a:prstGeom>
        </p:spPr>
      </p:pic>
      <p:pic>
        <p:nvPicPr>
          <p:cNvPr id="11" name="Picture 10">
            <a:extLst>
              <a:ext uri="{FF2B5EF4-FFF2-40B4-BE49-F238E27FC236}">
                <a16:creationId xmlns:a16="http://schemas.microsoft.com/office/drawing/2014/main" id="{0DECF6BA-D967-083A-9045-529E5FF1A9E1}"/>
              </a:ext>
            </a:extLst>
          </p:cNvPr>
          <p:cNvPicPr>
            <a:picLocks noChangeAspect="1"/>
          </p:cNvPicPr>
          <p:nvPr/>
        </p:nvPicPr>
        <p:blipFill>
          <a:blip r:embed="rId3"/>
          <a:stretch>
            <a:fillRect/>
          </a:stretch>
        </p:blipFill>
        <p:spPr>
          <a:xfrm>
            <a:off x="6096000" y="2397211"/>
            <a:ext cx="6096000" cy="4460789"/>
          </a:xfrm>
          <a:prstGeom prst="rect">
            <a:avLst/>
          </a:prstGeom>
        </p:spPr>
      </p:pic>
    </p:spTree>
    <p:extLst>
      <p:ext uri="{BB962C8B-B14F-4D97-AF65-F5344CB8AC3E}">
        <p14:creationId xmlns:p14="http://schemas.microsoft.com/office/powerpoint/2010/main" val="869760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B80ED-6855-9FEA-BE79-495C5A456CEC}"/>
              </a:ext>
            </a:extLst>
          </p:cNvPr>
          <p:cNvSpPr>
            <a:spLocks noGrp="1"/>
          </p:cNvSpPr>
          <p:nvPr>
            <p:ph type="ctrTitle"/>
          </p:nvPr>
        </p:nvSpPr>
        <p:spPr>
          <a:xfrm>
            <a:off x="4974771" y="576943"/>
            <a:ext cx="6449786" cy="1029586"/>
          </a:xfrm>
        </p:spPr>
        <p:txBody>
          <a:bodyPr>
            <a:normAutofit fontScale="90000"/>
          </a:bodyPr>
          <a:lstStyle/>
          <a:p>
            <a:r>
              <a:rPr lang="en-US" dirty="0"/>
              <a:t>Model evaluation (cont.)</a:t>
            </a:r>
          </a:p>
        </p:txBody>
      </p:sp>
      <p:sp>
        <p:nvSpPr>
          <p:cNvPr id="4" name="Slide Number Placeholder 3">
            <a:extLst>
              <a:ext uri="{FF2B5EF4-FFF2-40B4-BE49-F238E27FC236}">
                <a16:creationId xmlns:a16="http://schemas.microsoft.com/office/drawing/2014/main" id="{F8B2F4E0-7397-147F-0291-7E5A0153A5F0}"/>
              </a:ext>
            </a:extLst>
          </p:cNvPr>
          <p:cNvSpPr>
            <a:spLocks noGrp="1"/>
          </p:cNvSpPr>
          <p:nvPr>
            <p:ph type="sldNum" sz="quarter" idx="12"/>
          </p:nvPr>
        </p:nvSpPr>
        <p:spPr/>
        <p:txBody>
          <a:bodyPr/>
          <a:lstStyle/>
          <a:p>
            <a:fld id="{B5CEABB6-07DC-46E8-9B57-56EC44A396E5}" type="slidenum">
              <a:rPr lang="en-US" smtClean="0"/>
              <a:pPr/>
              <a:t>39</a:t>
            </a:fld>
            <a:endParaRPr lang="en-US" dirty="0"/>
          </a:p>
        </p:txBody>
      </p:sp>
      <p:pic>
        <p:nvPicPr>
          <p:cNvPr id="6" name="Picture 5">
            <a:extLst>
              <a:ext uri="{FF2B5EF4-FFF2-40B4-BE49-F238E27FC236}">
                <a16:creationId xmlns:a16="http://schemas.microsoft.com/office/drawing/2014/main" id="{FD2D52B6-264F-24EE-EDED-28F2B443731A}"/>
              </a:ext>
            </a:extLst>
          </p:cNvPr>
          <p:cNvPicPr>
            <a:picLocks noChangeAspect="1"/>
          </p:cNvPicPr>
          <p:nvPr/>
        </p:nvPicPr>
        <p:blipFill>
          <a:blip r:embed="rId2"/>
          <a:stretch>
            <a:fillRect/>
          </a:stretch>
        </p:blipFill>
        <p:spPr>
          <a:xfrm>
            <a:off x="0" y="2323867"/>
            <a:ext cx="6388428" cy="4534133"/>
          </a:xfrm>
          <a:prstGeom prst="rect">
            <a:avLst/>
          </a:prstGeom>
        </p:spPr>
      </p:pic>
      <p:pic>
        <p:nvPicPr>
          <p:cNvPr id="8" name="Picture 7">
            <a:extLst>
              <a:ext uri="{FF2B5EF4-FFF2-40B4-BE49-F238E27FC236}">
                <a16:creationId xmlns:a16="http://schemas.microsoft.com/office/drawing/2014/main" id="{A512647E-A9F4-C1D2-6786-B5438E7E0AAE}"/>
              </a:ext>
            </a:extLst>
          </p:cNvPr>
          <p:cNvPicPr>
            <a:picLocks noChangeAspect="1"/>
          </p:cNvPicPr>
          <p:nvPr/>
        </p:nvPicPr>
        <p:blipFill>
          <a:blip r:embed="rId3"/>
          <a:stretch>
            <a:fillRect/>
          </a:stretch>
        </p:blipFill>
        <p:spPr>
          <a:xfrm>
            <a:off x="6152840" y="2323867"/>
            <a:ext cx="6039160" cy="4534133"/>
          </a:xfrm>
          <a:prstGeom prst="rect">
            <a:avLst/>
          </a:prstGeom>
        </p:spPr>
      </p:pic>
    </p:spTree>
    <p:extLst>
      <p:ext uri="{BB962C8B-B14F-4D97-AF65-F5344CB8AC3E}">
        <p14:creationId xmlns:p14="http://schemas.microsoft.com/office/powerpoint/2010/main" val="6003254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7DE0C-8D19-F614-619D-47CE74233077}"/>
              </a:ext>
            </a:extLst>
          </p:cNvPr>
          <p:cNvSpPr>
            <a:spLocks noGrp="1"/>
          </p:cNvSpPr>
          <p:nvPr>
            <p:ph type="title"/>
          </p:nvPr>
        </p:nvSpPr>
        <p:spPr>
          <a:xfrm>
            <a:off x="4188941" y="136525"/>
            <a:ext cx="7620000" cy="818571"/>
          </a:xfrm>
        </p:spPr>
        <p:txBody>
          <a:bodyPr>
            <a:normAutofit fontScale="90000"/>
          </a:bodyPr>
          <a:lstStyle/>
          <a:p>
            <a:r>
              <a:rPr lang="en-US" dirty="0"/>
              <a:t>Model evaluation (cont.)</a:t>
            </a:r>
          </a:p>
        </p:txBody>
      </p:sp>
      <p:sp>
        <p:nvSpPr>
          <p:cNvPr id="4" name="Slide Number Placeholder 3">
            <a:extLst>
              <a:ext uri="{FF2B5EF4-FFF2-40B4-BE49-F238E27FC236}">
                <a16:creationId xmlns:a16="http://schemas.microsoft.com/office/drawing/2014/main" id="{7693847B-7A2B-8469-4460-448F88899B28}"/>
              </a:ext>
            </a:extLst>
          </p:cNvPr>
          <p:cNvSpPr>
            <a:spLocks noGrp="1"/>
          </p:cNvSpPr>
          <p:nvPr>
            <p:ph type="sldNum" sz="quarter" idx="12"/>
          </p:nvPr>
        </p:nvSpPr>
        <p:spPr/>
        <p:txBody>
          <a:bodyPr/>
          <a:lstStyle/>
          <a:p>
            <a:fld id="{B5CEABB6-07DC-46E8-9B57-56EC44A396E5}" type="slidenum">
              <a:rPr lang="en-US" smtClean="0"/>
              <a:pPr/>
              <a:t>40</a:t>
            </a:fld>
            <a:endParaRPr lang="en-US" dirty="0"/>
          </a:p>
        </p:txBody>
      </p:sp>
      <p:pic>
        <p:nvPicPr>
          <p:cNvPr id="6" name="Picture 5">
            <a:extLst>
              <a:ext uri="{FF2B5EF4-FFF2-40B4-BE49-F238E27FC236}">
                <a16:creationId xmlns:a16="http://schemas.microsoft.com/office/drawing/2014/main" id="{E5AF617D-4751-53E8-A550-506CD6A3975C}"/>
              </a:ext>
            </a:extLst>
          </p:cNvPr>
          <p:cNvPicPr>
            <a:picLocks noChangeAspect="1"/>
          </p:cNvPicPr>
          <p:nvPr/>
        </p:nvPicPr>
        <p:blipFill>
          <a:blip r:embed="rId2"/>
          <a:stretch>
            <a:fillRect/>
          </a:stretch>
        </p:blipFill>
        <p:spPr>
          <a:xfrm>
            <a:off x="-1" y="2187147"/>
            <a:ext cx="6207673" cy="4670854"/>
          </a:xfrm>
          <a:prstGeom prst="rect">
            <a:avLst/>
          </a:prstGeom>
        </p:spPr>
      </p:pic>
      <p:pic>
        <p:nvPicPr>
          <p:cNvPr id="8" name="Picture 7">
            <a:extLst>
              <a:ext uri="{FF2B5EF4-FFF2-40B4-BE49-F238E27FC236}">
                <a16:creationId xmlns:a16="http://schemas.microsoft.com/office/drawing/2014/main" id="{578DFAB5-E818-3617-293A-407DBB4BFB41}"/>
              </a:ext>
            </a:extLst>
          </p:cNvPr>
          <p:cNvPicPr>
            <a:picLocks noChangeAspect="1"/>
          </p:cNvPicPr>
          <p:nvPr/>
        </p:nvPicPr>
        <p:blipFill>
          <a:blip r:embed="rId3"/>
          <a:stretch>
            <a:fillRect/>
          </a:stretch>
        </p:blipFill>
        <p:spPr>
          <a:xfrm>
            <a:off x="6203642" y="2187146"/>
            <a:ext cx="5988358" cy="4670854"/>
          </a:xfrm>
          <a:prstGeom prst="rect">
            <a:avLst/>
          </a:prstGeom>
        </p:spPr>
      </p:pic>
    </p:spTree>
    <p:extLst>
      <p:ext uri="{BB962C8B-B14F-4D97-AF65-F5344CB8AC3E}">
        <p14:creationId xmlns:p14="http://schemas.microsoft.com/office/powerpoint/2010/main" val="11516938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737C6-D75C-B745-12AB-027E3892EA5B}"/>
              </a:ext>
            </a:extLst>
          </p:cNvPr>
          <p:cNvSpPr>
            <a:spLocks noGrp="1"/>
          </p:cNvSpPr>
          <p:nvPr>
            <p:ph type="title"/>
          </p:nvPr>
        </p:nvSpPr>
        <p:spPr>
          <a:xfrm>
            <a:off x="2881548" y="206387"/>
            <a:ext cx="7889768" cy="772051"/>
          </a:xfrm>
        </p:spPr>
        <p:txBody>
          <a:bodyPr>
            <a:normAutofit fontScale="90000"/>
          </a:bodyPr>
          <a:lstStyle/>
          <a:p>
            <a:r>
              <a:rPr lang="en-US" dirty="0"/>
              <a:t>Model Evaluation (cont.)</a:t>
            </a:r>
          </a:p>
        </p:txBody>
      </p:sp>
      <p:sp>
        <p:nvSpPr>
          <p:cNvPr id="3" name="Content Placeholder 2">
            <a:extLst>
              <a:ext uri="{FF2B5EF4-FFF2-40B4-BE49-F238E27FC236}">
                <a16:creationId xmlns:a16="http://schemas.microsoft.com/office/drawing/2014/main" id="{5E69C5E9-B2F9-B9AE-4AE0-5CC78E079C28}"/>
              </a:ext>
            </a:extLst>
          </p:cNvPr>
          <p:cNvSpPr>
            <a:spLocks noGrp="1"/>
          </p:cNvSpPr>
          <p:nvPr>
            <p:ph sz="half" idx="14"/>
          </p:nvPr>
        </p:nvSpPr>
        <p:spPr/>
        <p:txBody>
          <a:bodyPr/>
          <a:lstStyle/>
          <a:p>
            <a:endParaRPr lang="en-US"/>
          </a:p>
        </p:txBody>
      </p:sp>
      <p:sp>
        <p:nvSpPr>
          <p:cNvPr id="4" name="Content Placeholder 3">
            <a:extLst>
              <a:ext uri="{FF2B5EF4-FFF2-40B4-BE49-F238E27FC236}">
                <a16:creationId xmlns:a16="http://schemas.microsoft.com/office/drawing/2014/main" id="{4D84C9EF-0CB8-5B00-432F-90410B934639}"/>
              </a:ext>
            </a:extLst>
          </p:cNvPr>
          <p:cNvSpPr>
            <a:spLocks noGrp="1"/>
          </p:cNvSpPr>
          <p:nvPr>
            <p:ph sz="half" idx="1"/>
          </p:nvPr>
        </p:nvSpPr>
        <p:spPr/>
        <p:txBody>
          <a:bodyPr/>
          <a:lstStyle/>
          <a:p>
            <a:endParaRPr lang="en-US"/>
          </a:p>
        </p:txBody>
      </p:sp>
      <p:sp>
        <p:nvSpPr>
          <p:cNvPr id="5" name="Slide Number Placeholder 4">
            <a:extLst>
              <a:ext uri="{FF2B5EF4-FFF2-40B4-BE49-F238E27FC236}">
                <a16:creationId xmlns:a16="http://schemas.microsoft.com/office/drawing/2014/main" id="{5A14941F-0BD4-9F71-3815-FD7CC644EED1}"/>
              </a:ext>
            </a:extLst>
          </p:cNvPr>
          <p:cNvSpPr>
            <a:spLocks noGrp="1"/>
          </p:cNvSpPr>
          <p:nvPr>
            <p:ph type="sldNum" sz="quarter" idx="12"/>
          </p:nvPr>
        </p:nvSpPr>
        <p:spPr/>
        <p:txBody>
          <a:bodyPr/>
          <a:lstStyle/>
          <a:p>
            <a:fld id="{B5CEABB6-07DC-46E8-9B57-56EC44A396E5}" type="slidenum">
              <a:rPr lang="en-US" smtClean="0"/>
              <a:pPr/>
              <a:t>41</a:t>
            </a:fld>
            <a:endParaRPr lang="en-US" dirty="0"/>
          </a:p>
        </p:txBody>
      </p:sp>
      <p:pic>
        <p:nvPicPr>
          <p:cNvPr id="7" name="Picture 6">
            <a:extLst>
              <a:ext uri="{FF2B5EF4-FFF2-40B4-BE49-F238E27FC236}">
                <a16:creationId xmlns:a16="http://schemas.microsoft.com/office/drawing/2014/main" id="{A4B7A90E-46B1-7FAB-F480-DABEF0C9FF76}"/>
              </a:ext>
            </a:extLst>
          </p:cNvPr>
          <p:cNvPicPr>
            <a:picLocks noChangeAspect="1"/>
          </p:cNvPicPr>
          <p:nvPr/>
        </p:nvPicPr>
        <p:blipFill>
          <a:blip r:embed="rId2"/>
          <a:stretch>
            <a:fillRect/>
          </a:stretch>
        </p:blipFill>
        <p:spPr>
          <a:xfrm>
            <a:off x="0" y="2342918"/>
            <a:ext cx="6083613" cy="4515082"/>
          </a:xfrm>
          <a:prstGeom prst="rect">
            <a:avLst/>
          </a:prstGeom>
        </p:spPr>
      </p:pic>
      <p:pic>
        <p:nvPicPr>
          <p:cNvPr id="9" name="Picture 8">
            <a:extLst>
              <a:ext uri="{FF2B5EF4-FFF2-40B4-BE49-F238E27FC236}">
                <a16:creationId xmlns:a16="http://schemas.microsoft.com/office/drawing/2014/main" id="{C4BCB9F4-E20F-C107-47D0-3DD04324FEAF}"/>
              </a:ext>
            </a:extLst>
          </p:cNvPr>
          <p:cNvPicPr>
            <a:picLocks noChangeAspect="1"/>
          </p:cNvPicPr>
          <p:nvPr/>
        </p:nvPicPr>
        <p:blipFill>
          <a:blip r:embed="rId3"/>
          <a:stretch>
            <a:fillRect/>
          </a:stretch>
        </p:blipFill>
        <p:spPr>
          <a:xfrm>
            <a:off x="6017917" y="2342918"/>
            <a:ext cx="6174083" cy="4515082"/>
          </a:xfrm>
          <a:prstGeom prst="rect">
            <a:avLst/>
          </a:prstGeom>
        </p:spPr>
      </p:pic>
    </p:spTree>
    <p:extLst>
      <p:ext uri="{BB962C8B-B14F-4D97-AF65-F5344CB8AC3E}">
        <p14:creationId xmlns:p14="http://schemas.microsoft.com/office/powerpoint/2010/main" val="22828574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D5271-4A6F-FF60-4990-8FA3AF9FFC3A}"/>
              </a:ext>
            </a:extLst>
          </p:cNvPr>
          <p:cNvSpPr>
            <a:spLocks noGrp="1"/>
          </p:cNvSpPr>
          <p:nvPr>
            <p:ph type="title"/>
          </p:nvPr>
        </p:nvSpPr>
        <p:spPr>
          <a:xfrm>
            <a:off x="304801" y="161371"/>
            <a:ext cx="6589150" cy="1321440"/>
          </a:xfrm>
        </p:spPr>
        <p:txBody>
          <a:bodyPr/>
          <a:lstStyle/>
          <a:p>
            <a:r>
              <a:rPr lang="en-US" dirty="0"/>
              <a:t>Model Evaluation (final)</a:t>
            </a:r>
          </a:p>
        </p:txBody>
      </p:sp>
      <p:sp>
        <p:nvSpPr>
          <p:cNvPr id="3" name="Slide Number Placeholder 2">
            <a:extLst>
              <a:ext uri="{FF2B5EF4-FFF2-40B4-BE49-F238E27FC236}">
                <a16:creationId xmlns:a16="http://schemas.microsoft.com/office/drawing/2014/main" id="{2A9351C6-B619-4AEB-8135-CD272CB66325}"/>
              </a:ext>
            </a:extLst>
          </p:cNvPr>
          <p:cNvSpPr>
            <a:spLocks noGrp="1"/>
          </p:cNvSpPr>
          <p:nvPr>
            <p:ph type="sldNum" sz="quarter" idx="12"/>
          </p:nvPr>
        </p:nvSpPr>
        <p:spPr/>
        <p:txBody>
          <a:bodyPr/>
          <a:lstStyle/>
          <a:p>
            <a:fld id="{B5CEABB6-07DC-46E8-9B57-56EC44A396E5}" type="slidenum">
              <a:rPr lang="en-US" smtClean="0"/>
              <a:pPr/>
              <a:t>42</a:t>
            </a:fld>
            <a:endParaRPr lang="en-US" dirty="0"/>
          </a:p>
        </p:txBody>
      </p:sp>
      <p:sp>
        <p:nvSpPr>
          <p:cNvPr id="4" name="Content Placeholder 3">
            <a:extLst>
              <a:ext uri="{FF2B5EF4-FFF2-40B4-BE49-F238E27FC236}">
                <a16:creationId xmlns:a16="http://schemas.microsoft.com/office/drawing/2014/main" id="{F49313BA-6265-0B50-7330-AB4219E2A5E9}"/>
              </a:ext>
            </a:extLst>
          </p:cNvPr>
          <p:cNvSpPr>
            <a:spLocks noGrp="1"/>
          </p:cNvSpPr>
          <p:nvPr>
            <p:ph sz="half" idx="14"/>
          </p:nvPr>
        </p:nvSpPr>
        <p:spPr>
          <a:xfrm>
            <a:off x="185352" y="1618735"/>
            <a:ext cx="7685902" cy="5101470"/>
          </a:xfrm>
        </p:spPr>
        <p:txBody>
          <a:bodyPr>
            <a:normAutofit/>
          </a:bodyPr>
          <a:lstStyle/>
          <a:p>
            <a:r>
              <a:rPr lang="en-US" sz="2300" dirty="0"/>
              <a:t>The last series of several charts provide ample data on what each model values when making decisions.</a:t>
            </a:r>
          </a:p>
          <a:p>
            <a:endParaRPr lang="en-US" sz="2300" dirty="0"/>
          </a:p>
          <a:p>
            <a:r>
              <a:rPr lang="en-US" sz="2300" dirty="0"/>
              <a:t>It is important to note that event though the logistical regression is the least accurate model it provide a plethora of statistical data that can be broken down by migraine type to show which features the model credits to confirming a certain diagnosis or discredits a diagnosis. This data is very useful as it shows more of the model's decision-making process than the rest of the models can allowing for future fine tuning.</a:t>
            </a:r>
          </a:p>
        </p:txBody>
      </p:sp>
    </p:spTree>
    <p:extLst>
      <p:ext uri="{BB962C8B-B14F-4D97-AF65-F5344CB8AC3E}">
        <p14:creationId xmlns:p14="http://schemas.microsoft.com/office/powerpoint/2010/main" val="31295691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527A6-B8BC-652D-36FA-8EBDA9F79F46}"/>
              </a:ext>
            </a:extLst>
          </p:cNvPr>
          <p:cNvSpPr>
            <a:spLocks noGrp="1"/>
          </p:cNvSpPr>
          <p:nvPr>
            <p:ph type="ctrTitle"/>
          </p:nvPr>
        </p:nvSpPr>
        <p:spPr>
          <a:xfrm>
            <a:off x="3608173" y="576943"/>
            <a:ext cx="7816384" cy="1165360"/>
          </a:xfrm>
        </p:spPr>
        <p:txBody>
          <a:bodyPr>
            <a:normAutofit fontScale="90000"/>
          </a:bodyPr>
          <a:lstStyle/>
          <a:p>
            <a:r>
              <a:rPr lang="en-US" dirty="0"/>
              <a:t>Model saving and best model selection</a:t>
            </a:r>
          </a:p>
        </p:txBody>
      </p:sp>
      <p:sp>
        <p:nvSpPr>
          <p:cNvPr id="3" name="Subtitle 2">
            <a:extLst>
              <a:ext uri="{FF2B5EF4-FFF2-40B4-BE49-F238E27FC236}">
                <a16:creationId xmlns:a16="http://schemas.microsoft.com/office/drawing/2014/main" id="{4CD8B9ED-5F17-2FE0-2A9B-1B4B8A25F15E}"/>
              </a:ext>
            </a:extLst>
          </p:cNvPr>
          <p:cNvSpPr>
            <a:spLocks noGrp="1"/>
          </p:cNvSpPr>
          <p:nvPr>
            <p:ph type="subTitle" idx="1"/>
          </p:nvPr>
        </p:nvSpPr>
        <p:spPr>
          <a:xfrm>
            <a:off x="4905631" y="1921475"/>
            <a:ext cx="7132063" cy="3015050"/>
          </a:xfrm>
        </p:spPr>
        <p:txBody>
          <a:bodyPr>
            <a:normAutofit fontScale="92500" lnSpcReduction="10000"/>
          </a:bodyPr>
          <a:lstStyle/>
          <a:p>
            <a:r>
              <a:rPr lang="en-US" dirty="0"/>
              <a:t>All learning models are saved for future use as well as the label encoder and the multilabel </a:t>
            </a:r>
            <a:r>
              <a:rPr lang="en-US" dirty="0" err="1"/>
              <a:t>binarizer</a:t>
            </a:r>
            <a:r>
              <a:rPr lang="en-US" dirty="0"/>
              <a:t> to allow for quick and simple deployment</a:t>
            </a:r>
          </a:p>
          <a:p>
            <a:r>
              <a:rPr lang="en-US" dirty="0"/>
              <a:t>The best model was selected as the </a:t>
            </a:r>
            <a:r>
              <a:rPr lang="en-US" dirty="0" err="1"/>
              <a:t>LightGBM</a:t>
            </a:r>
            <a:r>
              <a:rPr lang="en-US" dirty="0"/>
              <a:t> model because it had the highest accuracy and a robust F1 score showing it preforms good consistently </a:t>
            </a:r>
          </a:p>
        </p:txBody>
      </p:sp>
      <p:sp>
        <p:nvSpPr>
          <p:cNvPr id="4" name="Slide Number Placeholder 3">
            <a:extLst>
              <a:ext uri="{FF2B5EF4-FFF2-40B4-BE49-F238E27FC236}">
                <a16:creationId xmlns:a16="http://schemas.microsoft.com/office/drawing/2014/main" id="{019B46F6-871A-774C-024D-38168867BD1F}"/>
              </a:ext>
            </a:extLst>
          </p:cNvPr>
          <p:cNvSpPr>
            <a:spLocks noGrp="1"/>
          </p:cNvSpPr>
          <p:nvPr>
            <p:ph type="sldNum" sz="quarter" idx="12"/>
          </p:nvPr>
        </p:nvSpPr>
        <p:spPr/>
        <p:txBody>
          <a:bodyPr/>
          <a:lstStyle/>
          <a:p>
            <a:fld id="{B5CEABB6-07DC-46E8-9B57-56EC44A396E5}" type="slidenum">
              <a:rPr lang="en-US" smtClean="0"/>
              <a:pPr/>
              <a:t>43</a:t>
            </a:fld>
            <a:endParaRPr lang="en-US" dirty="0"/>
          </a:p>
        </p:txBody>
      </p:sp>
    </p:spTree>
    <p:extLst>
      <p:ext uri="{BB962C8B-B14F-4D97-AF65-F5344CB8AC3E}">
        <p14:creationId xmlns:p14="http://schemas.microsoft.com/office/powerpoint/2010/main" val="42371576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DEFAB-A263-1D18-ABE1-53B1382A0715}"/>
              </a:ext>
            </a:extLst>
          </p:cNvPr>
          <p:cNvSpPr>
            <a:spLocks noGrp="1"/>
          </p:cNvSpPr>
          <p:nvPr>
            <p:ph type="title"/>
          </p:nvPr>
        </p:nvSpPr>
        <p:spPr>
          <a:xfrm>
            <a:off x="4933950" y="429462"/>
            <a:ext cx="6343650" cy="1028636"/>
          </a:xfrm>
        </p:spPr>
        <p:txBody>
          <a:bodyPr/>
          <a:lstStyle/>
          <a:p>
            <a:r>
              <a:rPr lang="en-US" dirty="0"/>
              <a:t>Model Deployment </a:t>
            </a:r>
          </a:p>
        </p:txBody>
      </p:sp>
      <p:sp>
        <p:nvSpPr>
          <p:cNvPr id="3" name="Content Placeholder 2">
            <a:extLst>
              <a:ext uri="{FF2B5EF4-FFF2-40B4-BE49-F238E27FC236}">
                <a16:creationId xmlns:a16="http://schemas.microsoft.com/office/drawing/2014/main" id="{2AF5FCFC-49AD-A66C-0800-96B5C3786584}"/>
              </a:ext>
            </a:extLst>
          </p:cNvPr>
          <p:cNvSpPr>
            <a:spLocks noGrp="1"/>
          </p:cNvSpPr>
          <p:nvPr>
            <p:ph sz="half" idx="14"/>
          </p:nvPr>
        </p:nvSpPr>
        <p:spPr>
          <a:xfrm>
            <a:off x="4938712" y="1660126"/>
            <a:ext cx="6338888" cy="2668463"/>
          </a:xfrm>
        </p:spPr>
        <p:txBody>
          <a:bodyPr/>
          <a:lstStyle/>
          <a:p>
            <a:r>
              <a:rPr lang="en-US" dirty="0"/>
              <a:t>A user input function was created to query the model with new information and get a result back</a:t>
            </a:r>
          </a:p>
        </p:txBody>
      </p:sp>
      <p:sp>
        <p:nvSpPr>
          <p:cNvPr id="4" name="Slide Number Placeholder 3">
            <a:extLst>
              <a:ext uri="{FF2B5EF4-FFF2-40B4-BE49-F238E27FC236}">
                <a16:creationId xmlns:a16="http://schemas.microsoft.com/office/drawing/2014/main" id="{5A2FEA43-F6F4-328B-5893-519C6B5E23E5}"/>
              </a:ext>
            </a:extLst>
          </p:cNvPr>
          <p:cNvSpPr>
            <a:spLocks noGrp="1"/>
          </p:cNvSpPr>
          <p:nvPr>
            <p:ph type="sldNum" sz="quarter" idx="12"/>
          </p:nvPr>
        </p:nvSpPr>
        <p:spPr/>
        <p:txBody>
          <a:bodyPr/>
          <a:lstStyle/>
          <a:p>
            <a:fld id="{B5CEABB6-07DC-46E8-9B57-56EC44A396E5}" type="slidenum">
              <a:rPr lang="en-US" smtClean="0"/>
              <a:pPr/>
              <a:t>44</a:t>
            </a:fld>
            <a:endParaRPr lang="en-US" dirty="0"/>
          </a:p>
        </p:txBody>
      </p:sp>
      <p:pic>
        <p:nvPicPr>
          <p:cNvPr id="6" name="Picture 5">
            <a:extLst>
              <a:ext uri="{FF2B5EF4-FFF2-40B4-BE49-F238E27FC236}">
                <a16:creationId xmlns:a16="http://schemas.microsoft.com/office/drawing/2014/main" id="{1CD2830F-6013-E20A-6959-7DB3965DF498}"/>
              </a:ext>
            </a:extLst>
          </p:cNvPr>
          <p:cNvPicPr>
            <a:picLocks noChangeAspect="1"/>
          </p:cNvPicPr>
          <p:nvPr/>
        </p:nvPicPr>
        <p:blipFill>
          <a:blip r:embed="rId2"/>
          <a:stretch>
            <a:fillRect/>
          </a:stretch>
        </p:blipFill>
        <p:spPr>
          <a:xfrm>
            <a:off x="5848350" y="3413437"/>
            <a:ext cx="6343650" cy="2204722"/>
          </a:xfrm>
          <a:prstGeom prst="rect">
            <a:avLst/>
          </a:prstGeom>
        </p:spPr>
      </p:pic>
      <p:pic>
        <p:nvPicPr>
          <p:cNvPr id="8" name="Picture 7">
            <a:extLst>
              <a:ext uri="{FF2B5EF4-FFF2-40B4-BE49-F238E27FC236}">
                <a16:creationId xmlns:a16="http://schemas.microsoft.com/office/drawing/2014/main" id="{2CFB9E2F-4984-2453-945B-B7882803D60C}"/>
              </a:ext>
            </a:extLst>
          </p:cNvPr>
          <p:cNvPicPr>
            <a:picLocks noChangeAspect="1"/>
          </p:cNvPicPr>
          <p:nvPr/>
        </p:nvPicPr>
        <p:blipFill>
          <a:blip r:embed="rId3"/>
          <a:stretch>
            <a:fillRect/>
          </a:stretch>
        </p:blipFill>
        <p:spPr>
          <a:xfrm>
            <a:off x="3731741" y="5769610"/>
            <a:ext cx="8460259" cy="1028636"/>
          </a:xfrm>
          <a:prstGeom prst="rect">
            <a:avLst/>
          </a:prstGeom>
        </p:spPr>
      </p:pic>
    </p:spTree>
    <p:extLst>
      <p:ext uri="{BB962C8B-B14F-4D97-AF65-F5344CB8AC3E}">
        <p14:creationId xmlns:p14="http://schemas.microsoft.com/office/powerpoint/2010/main" val="15880711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77538-AB59-399D-822F-0DC88ABB4231}"/>
              </a:ext>
            </a:extLst>
          </p:cNvPr>
          <p:cNvSpPr>
            <a:spLocks noGrp="1"/>
          </p:cNvSpPr>
          <p:nvPr>
            <p:ph type="ctrTitle"/>
          </p:nvPr>
        </p:nvSpPr>
        <p:spPr>
          <a:xfrm>
            <a:off x="4974771" y="576943"/>
            <a:ext cx="6449786" cy="1301284"/>
          </a:xfrm>
        </p:spPr>
        <p:txBody>
          <a:bodyPr/>
          <a:lstStyle/>
          <a:p>
            <a:r>
              <a:rPr lang="en-US" dirty="0"/>
              <a:t>Future scope </a:t>
            </a:r>
          </a:p>
        </p:txBody>
      </p:sp>
      <p:sp>
        <p:nvSpPr>
          <p:cNvPr id="3" name="Subtitle 2">
            <a:extLst>
              <a:ext uri="{FF2B5EF4-FFF2-40B4-BE49-F238E27FC236}">
                <a16:creationId xmlns:a16="http://schemas.microsoft.com/office/drawing/2014/main" id="{8B7C93ED-260C-08AA-68B5-6E9D2245BB4D}"/>
              </a:ext>
            </a:extLst>
          </p:cNvPr>
          <p:cNvSpPr>
            <a:spLocks noGrp="1"/>
          </p:cNvSpPr>
          <p:nvPr>
            <p:ph type="subTitle" idx="1"/>
          </p:nvPr>
        </p:nvSpPr>
        <p:spPr>
          <a:xfrm>
            <a:off x="4090086" y="1878227"/>
            <a:ext cx="8101914" cy="4474620"/>
          </a:xfrm>
        </p:spPr>
        <p:txBody>
          <a:bodyPr>
            <a:normAutofit lnSpcReduction="10000"/>
          </a:bodyPr>
          <a:lstStyle/>
          <a:p>
            <a:r>
              <a:rPr lang="en-US" dirty="0"/>
              <a:t>Researchers should continue to collect data on:</a:t>
            </a:r>
          </a:p>
          <a:p>
            <a:r>
              <a:rPr lang="en-US" dirty="0"/>
              <a:t>	 migraine types underrepresented in this dataset</a:t>
            </a:r>
          </a:p>
          <a:p>
            <a:r>
              <a:rPr lang="en-US" dirty="0"/>
              <a:t>	age groups underrepresented in this dataset</a:t>
            </a:r>
          </a:p>
          <a:p>
            <a:r>
              <a:rPr lang="en-US" dirty="0"/>
              <a:t>Further use of </a:t>
            </a:r>
            <a:r>
              <a:rPr lang="en-US" dirty="0" err="1"/>
              <a:t>optuna</a:t>
            </a:r>
            <a:r>
              <a:rPr lang="en-US" dirty="0"/>
              <a:t> and other tuning software can help increase model performance</a:t>
            </a:r>
          </a:p>
          <a:p>
            <a:r>
              <a:rPr lang="en-US" dirty="0"/>
              <a:t>More complex Neural Network algorithms can be used like RNN</a:t>
            </a:r>
          </a:p>
        </p:txBody>
      </p:sp>
      <p:sp>
        <p:nvSpPr>
          <p:cNvPr id="4" name="Slide Number Placeholder 3">
            <a:extLst>
              <a:ext uri="{FF2B5EF4-FFF2-40B4-BE49-F238E27FC236}">
                <a16:creationId xmlns:a16="http://schemas.microsoft.com/office/drawing/2014/main" id="{A4109406-618E-2C5F-B8AA-8804C3532147}"/>
              </a:ext>
            </a:extLst>
          </p:cNvPr>
          <p:cNvSpPr>
            <a:spLocks noGrp="1"/>
          </p:cNvSpPr>
          <p:nvPr>
            <p:ph type="sldNum" sz="quarter" idx="12"/>
          </p:nvPr>
        </p:nvSpPr>
        <p:spPr/>
        <p:txBody>
          <a:bodyPr/>
          <a:lstStyle/>
          <a:p>
            <a:fld id="{B5CEABB6-07DC-46E8-9B57-56EC44A396E5}" type="slidenum">
              <a:rPr lang="en-US" smtClean="0"/>
              <a:pPr/>
              <a:t>45</a:t>
            </a:fld>
            <a:endParaRPr lang="en-US" dirty="0"/>
          </a:p>
        </p:txBody>
      </p:sp>
    </p:spTree>
    <p:extLst>
      <p:ext uri="{BB962C8B-B14F-4D97-AF65-F5344CB8AC3E}">
        <p14:creationId xmlns:p14="http://schemas.microsoft.com/office/powerpoint/2010/main" val="27173414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E7205-981D-65B3-E808-570F42234295}"/>
              </a:ext>
            </a:extLst>
          </p:cNvPr>
          <p:cNvSpPr>
            <a:spLocks noGrp="1"/>
          </p:cNvSpPr>
          <p:nvPr>
            <p:ph type="ctrTitle"/>
          </p:nvPr>
        </p:nvSpPr>
        <p:spPr>
          <a:xfrm>
            <a:off x="4974771" y="576943"/>
            <a:ext cx="6449786" cy="1153003"/>
          </a:xfrm>
        </p:spPr>
        <p:txBody>
          <a:bodyPr/>
          <a:lstStyle/>
          <a:p>
            <a:r>
              <a:rPr lang="en-US" dirty="0"/>
              <a:t>Target Audience</a:t>
            </a:r>
          </a:p>
        </p:txBody>
      </p:sp>
      <p:sp>
        <p:nvSpPr>
          <p:cNvPr id="3" name="Subtitle 2">
            <a:extLst>
              <a:ext uri="{FF2B5EF4-FFF2-40B4-BE49-F238E27FC236}">
                <a16:creationId xmlns:a16="http://schemas.microsoft.com/office/drawing/2014/main" id="{333DEA7A-9106-BA84-480F-B5B38969544A}"/>
              </a:ext>
            </a:extLst>
          </p:cNvPr>
          <p:cNvSpPr>
            <a:spLocks noGrp="1"/>
          </p:cNvSpPr>
          <p:nvPr>
            <p:ph type="subTitle" idx="1"/>
          </p:nvPr>
        </p:nvSpPr>
        <p:spPr>
          <a:xfrm>
            <a:off x="4974772" y="1989438"/>
            <a:ext cx="6449785" cy="4728533"/>
          </a:xfrm>
        </p:spPr>
        <p:txBody>
          <a:bodyPr>
            <a:normAutofit fontScale="92500" lnSpcReduction="20000"/>
          </a:bodyPr>
          <a:lstStyle/>
          <a:p>
            <a:r>
              <a:rPr lang="en-US" dirty="0"/>
              <a:t>This report is targeted towards:</a:t>
            </a:r>
          </a:p>
          <a:p>
            <a:r>
              <a:rPr lang="en-US" dirty="0"/>
              <a:t>	Insurance companies </a:t>
            </a:r>
          </a:p>
          <a:p>
            <a:r>
              <a:rPr lang="en-US" dirty="0"/>
              <a:t>	medical professionals</a:t>
            </a:r>
          </a:p>
          <a:p>
            <a:r>
              <a:rPr lang="en-US" dirty="0"/>
              <a:t>	public health professionals</a:t>
            </a:r>
          </a:p>
          <a:p>
            <a:r>
              <a:rPr lang="en-US" dirty="0"/>
              <a:t>	pharmaceutical companies</a:t>
            </a:r>
          </a:p>
          <a:p>
            <a:r>
              <a:rPr lang="en-US" dirty="0"/>
              <a:t>	data scientists</a:t>
            </a:r>
          </a:p>
          <a:p>
            <a:r>
              <a:rPr lang="en-US" dirty="0"/>
              <a:t>	people suffering from migraines</a:t>
            </a:r>
          </a:p>
          <a:p>
            <a:r>
              <a:rPr lang="en-US" dirty="0"/>
              <a:t>	</a:t>
            </a:r>
          </a:p>
        </p:txBody>
      </p:sp>
      <p:sp>
        <p:nvSpPr>
          <p:cNvPr id="4" name="Slide Number Placeholder 3">
            <a:extLst>
              <a:ext uri="{FF2B5EF4-FFF2-40B4-BE49-F238E27FC236}">
                <a16:creationId xmlns:a16="http://schemas.microsoft.com/office/drawing/2014/main" id="{5118BB6C-DC0A-DF1A-25E9-69600C6F3EA8}"/>
              </a:ext>
            </a:extLst>
          </p:cNvPr>
          <p:cNvSpPr>
            <a:spLocks noGrp="1"/>
          </p:cNvSpPr>
          <p:nvPr>
            <p:ph type="sldNum" sz="quarter" idx="12"/>
          </p:nvPr>
        </p:nvSpPr>
        <p:spPr/>
        <p:txBody>
          <a:bodyPr/>
          <a:lstStyle/>
          <a:p>
            <a:fld id="{B5CEABB6-07DC-46E8-9B57-56EC44A396E5}" type="slidenum">
              <a:rPr lang="en-US" smtClean="0"/>
              <a:pPr/>
              <a:t>46</a:t>
            </a:fld>
            <a:endParaRPr lang="en-US" dirty="0"/>
          </a:p>
        </p:txBody>
      </p:sp>
    </p:spTree>
    <p:extLst>
      <p:ext uri="{BB962C8B-B14F-4D97-AF65-F5344CB8AC3E}">
        <p14:creationId xmlns:p14="http://schemas.microsoft.com/office/powerpoint/2010/main" val="16578415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564CB-C1A6-DFFF-E4AC-62DAB920B978}"/>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3518229624"/>
      </p:ext>
    </p:extLst>
  </p:cSld>
  <p:clrMapOvr>
    <a:masterClrMapping/>
  </p:clrMapOvr>
</p:sld>
</file>

<file path=ppt/theme/theme1.xml><?xml version="1.0" encoding="utf-8"?>
<a:theme xmlns:a="http://schemas.openxmlformats.org/drawingml/2006/main" name="Custom">
  <a:themeElements>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968143_Win32_SL_V3" id="{4DA6DF5E-F5DF-461D-8863-50E9C5721FD0}" vid="{BC6DDDB8-E14A-47D1-98C5-2C109624FD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65614A-92F9-4391-AC3D-F3F5B0704F9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8451406B-581B-4C29-A833-E33D8A6AB075}">
  <ds:schemaRefs>
    <ds:schemaRef ds:uri="http://schemas.microsoft.com/sharepoint/v3/contenttype/forms"/>
  </ds:schemaRefs>
</ds:datastoreItem>
</file>

<file path=customXml/itemProps3.xml><?xml version="1.0" encoding="utf-8"?>
<ds:datastoreItem xmlns:ds="http://schemas.openxmlformats.org/officeDocument/2006/customXml" ds:itemID="{18903D25-5BE2-4D9E-B7D8-BE1DCAE2DC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{142CEDA2-3123-45FA-B474-216EE0C5DAD0}TF55c86556-70ea-476e-aa05-13a38f2d5b0da1381d77_win32-a3c664429073</Template>
  <TotalTime>402</TotalTime>
  <Words>2014</Words>
  <Application>Microsoft Office PowerPoint</Application>
  <PresentationFormat>Widescreen</PresentationFormat>
  <Paragraphs>222</Paragraphs>
  <Slides>47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Avenir Next LT Pro</vt:lpstr>
      <vt:lpstr>Calibri</vt:lpstr>
      <vt:lpstr>Custom</vt:lpstr>
      <vt:lpstr>Machine learning Migraine Classifier </vt:lpstr>
      <vt:lpstr>Problem Statement</vt:lpstr>
      <vt:lpstr>Technology stack</vt:lpstr>
      <vt:lpstr>Features of dataset​</vt:lpstr>
      <vt:lpstr>Exploratory data analysis </vt:lpstr>
      <vt:lpstr>Age Distribution</vt:lpstr>
      <vt:lpstr>Duration of migraine distribution</vt:lpstr>
      <vt:lpstr>Frequency of migraine distribution</vt:lpstr>
      <vt:lpstr>Intensity Distribution</vt:lpstr>
      <vt:lpstr>Distribution of migraine types​</vt:lpstr>
      <vt:lpstr>Reported Symptom Frequency</vt:lpstr>
      <vt:lpstr>Symptom occurrence by migraine type​</vt:lpstr>
      <vt:lpstr>Age vs intensity by migraine type scatter plot​</vt:lpstr>
      <vt:lpstr>Standardized age By migraine type</vt:lpstr>
      <vt:lpstr>Standardized duration by migraine type</vt:lpstr>
      <vt:lpstr>Standardized frequency by migraine type</vt:lpstr>
      <vt:lpstr>Standardized intensity by migraine type</vt:lpstr>
      <vt:lpstr>Data preprocessing</vt:lpstr>
      <vt:lpstr>Label encoding  </vt:lpstr>
      <vt:lpstr>Multilabel binarizing symptom data</vt:lpstr>
      <vt:lpstr>Feature Scaling </vt:lpstr>
      <vt:lpstr>Synthetic Minority Over-sampling Technique (SMOTE)</vt:lpstr>
      <vt:lpstr>Feature selection and Dimensional Reduction</vt:lpstr>
      <vt:lpstr>Mutual Information scoring</vt:lpstr>
      <vt:lpstr>Principal component analysis </vt:lpstr>
      <vt:lpstr>T-sne clustering by migraine type</vt:lpstr>
      <vt:lpstr>T-sne with feature importance scores</vt:lpstr>
      <vt:lpstr>Building machine learning models</vt:lpstr>
      <vt:lpstr>Logistic Regression</vt:lpstr>
      <vt:lpstr>Random Forest</vt:lpstr>
      <vt:lpstr>xgboost</vt:lpstr>
      <vt:lpstr>Lightgbm</vt:lpstr>
      <vt:lpstr>Deep learning neural network</vt:lpstr>
      <vt:lpstr>Model optimization</vt:lpstr>
      <vt:lpstr>Cross validation and grid searching</vt:lpstr>
      <vt:lpstr>Model evaluation</vt:lpstr>
      <vt:lpstr>Model evaluation (cont.)</vt:lpstr>
      <vt:lpstr>Model evaluation (cont.)</vt:lpstr>
      <vt:lpstr>Model evaluation (cont.)</vt:lpstr>
      <vt:lpstr>Model evaluation (cont.)</vt:lpstr>
      <vt:lpstr>Model Evaluation (cont.)</vt:lpstr>
      <vt:lpstr>Model Evaluation (final)</vt:lpstr>
      <vt:lpstr>Model saving and best model selection</vt:lpstr>
      <vt:lpstr>Model Deployment </vt:lpstr>
      <vt:lpstr>Future scope </vt:lpstr>
      <vt:lpstr>Target Audience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McGivern, Michael P</dc:creator>
  <cp:lastModifiedBy>McGivern, Michael P</cp:lastModifiedBy>
  <cp:revision>1</cp:revision>
  <dcterms:created xsi:type="dcterms:W3CDTF">2025-07-19T15:55:53Z</dcterms:created>
  <dcterms:modified xsi:type="dcterms:W3CDTF">2025-07-19T22:37:57Z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